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72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3A4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8" d="100"/>
          <a:sy n="78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he-IL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 of skill labels (%)</c:v>
                </c:pt>
              </c:strCache>
            </c:strRef>
          </c:tx>
          <c:spPr>
            <a:solidFill>
              <a:srgbClr val="2DD4BF"/>
            </a:solidFill>
            <a:effectLst/>
          </c:spPr>
          <c:invertIfNegative val="0"/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EAF0FA"/>
                    </a:solidFill>
                    <a:latin typeface="Calibri"/>
                  </a:defRPr>
                </a:pPr>
                <a:endParaRPr lang="en-I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L1</c:v>
                </c:pt>
                <c:pt idx="1">
                  <c:v>L2</c:v>
                </c:pt>
                <c:pt idx="2">
                  <c:v>L3</c:v>
                </c:pt>
                <c:pt idx="3">
                  <c:v>L4</c:v>
                </c:pt>
                <c:pt idx="4">
                  <c:v>L5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11</c:v>
                </c:pt>
                <c:pt idx="1">
                  <c:v>17</c:v>
                </c:pt>
                <c:pt idx="2">
                  <c:v>28</c:v>
                </c:pt>
                <c:pt idx="3">
                  <c:v>29</c:v>
                </c:pt>
                <c:pt idx="4">
                  <c:v>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22C-463F-8192-B40AF833710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93A4C4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solidFill>
          <a:srgbClr val="16213A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16213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23883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654E23-5FB7-C642-3A26-4BB09ABC84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E274DF-AAE2-4175-0C0F-49E6B72BE1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17150E-C4C2-315F-D34B-09AF234D99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0BADA4-D440-66F5-785C-B1B059F6BBF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2937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88552" y="4261104"/>
            <a:ext cx="310896" cy="310896"/>
          </a:xfrm>
          <a:prstGeom prst="ellipse">
            <a:avLst/>
          </a:prstGeom>
          <a:solidFill>
            <a:srgbClr val="2A3A5C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3" name="Text 1"/>
          <p:cNvSpPr/>
          <p:nvPr/>
        </p:nvSpPr>
        <p:spPr>
          <a:xfrm>
            <a:off x="8897112" y="4617720"/>
            <a:ext cx="4937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3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9482328" y="4114800"/>
            <a:ext cx="457200" cy="457200"/>
          </a:xfrm>
          <a:prstGeom prst="ellipse">
            <a:avLst/>
          </a:prstGeom>
          <a:solidFill>
            <a:srgbClr val="5B8DEF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5" name="Text 3"/>
          <p:cNvSpPr/>
          <p:nvPr/>
        </p:nvSpPr>
        <p:spPr>
          <a:xfrm>
            <a:off x="9390888" y="46177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3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9976104" y="3968496"/>
            <a:ext cx="603504" cy="603504"/>
          </a:xfrm>
          <a:prstGeom prst="ellipse">
            <a:avLst/>
          </a:prstGeom>
          <a:solidFill>
            <a:srgbClr val="5B8DEF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7" name="Text 5"/>
          <p:cNvSpPr/>
          <p:nvPr/>
        </p:nvSpPr>
        <p:spPr>
          <a:xfrm>
            <a:off x="9884664" y="4617720"/>
            <a:ext cx="7863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3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0469880" y="3822192"/>
            <a:ext cx="749808" cy="749808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9" name="Text 7"/>
          <p:cNvSpPr/>
          <p:nvPr/>
        </p:nvSpPr>
        <p:spPr>
          <a:xfrm>
            <a:off x="10378440" y="4617720"/>
            <a:ext cx="9326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3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0963656" y="3675888"/>
            <a:ext cx="896112" cy="896112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1" name="Text 9"/>
          <p:cNvSpPr/>
          <p:nvPr/>
        </p:nvSpPr>
        <p:spPr>
          <a:xfrm>
            <a:off x="10872216" y="4617720"/>
            <a:ext cx="1078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3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0" y="13716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PROFICIENCY  1 → 5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2057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DATA  •  RAG  •  ORDINAL NLP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2423160"/>
            <a:ext cx="78638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5400" b="1" dirty="0">
                <a:solidFill>
                  <a:srgbClr val="EAF0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Skill-Scoring</a:t>
            </a:r>
            <a:endParaRPr lang="en-US" sz="540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5400" b="1" dirty="0">
                <a:solidFill>
                  <a:srgbClr val="EAF0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NLP Model</a:t>
            </a:r>
            <a:endParaRPr lang="en-US" sz="5400" dirty="0"/>
          </a:p>
        </p:txBody>
      </p:sp>
      <p:sp>
        <p:nvSpPr>
          <p:cNvPr id="15" name="Text 13"/>
          <p:cNvSpPr/>
          <p:nvPr/>
        </p:nvSpPr>
        <p:spPr>
          <a:xfrm>
            <a:off x="548640" y="44348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3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Meir Shamir and Ofir Ohana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48640" y="502920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3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controlled synthetic-data generation pipeline + a RAG-backed DeBERTa ordinal scorer — built end-to-end with local LLMs (Ollama / Qwen3).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3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Skill-Scoring NLP Model</a:t>
            </a:r>
            <a:r>
              <a:rPr lang="en-US" sz="900" dirty="0">
                <a:solidFill>
                  <a:srgbClr val="5C6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  Synthetic Generation → RAG → Ordinal Scorer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3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5E5CB2-EDD7-83E3-5368-B6A7BAA20D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F80B994-6679-2DCC-E677-ACD1DBD6E9E4}"/>
              </a:ext>
            </a:extLst>
          </p:cNvPr>
          <p:cNvSpPr/>
          <p:nvPr/>
        </p:nvSpPr>
        <p:spPr>
          <a:xfrm>
            <a:off x="548640" y="45720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DEFINITION</a:t>
            </a:r>
            <a:endParaRPr lang="en-US"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0FA5C52-33FA-FC47-D2F7-289EDC9722B0}"/>
              </a:ext>
            </a:extLst>
          </p:cNvPr>
          <p:cNvSpPr/>
          <p:nvPr/>
        </p:nvSpPr>
        <p:spPr>
          <a:xfrm>
            <a:off x="548640" y="731520"/>
            <a:ext cx="11094415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EAF0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gap we're trying to fill</a:t>
            </a:r>
            <a:endParaRPr lang="en-US" sz="300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11A29F1A-1EBB-D00C-ACBA-F146F84B9CF5}"/>
              </a:ext>
            </a:extLst>
          </p:cNvPr>
          <p:cNvSpPr/>
          <p:nvPr/>
        </p:nvSpPr>
        <p:spPr>
          <a:xfrm>
            <a:off x="6400800" y="1691640"/>
            <a:ext cx="5212080" cy="4480560"/>
          </a:xfrm>
          <a:prstGeom prst="roundRect">
            <a:avLst>
              <a:gd name="adj" fmla="val 2041"/>
            </a:avLst>
          </a:prstGeom>
          <a:solidFill>
            <a:srgbClr val="16213A"/>
          </a:solidFill>
          <a:ln w="12700">
            <a:solidFill>
              <a:srgbClr val="2A3A5C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D3DFCEC5-CBB7-BE6A-5C94-07A2AE87ADD2}"/>
              </a:ext>
            </a:extLst>
          </p:cNvPr>
          <p:cNvSpPr/>
          <p:nvPr/>
        </p:nvSpPr>
        <p:spPr>
          <a:xfrm>
            <a:off x="6675120" y="1874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AF0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GAP</a:t>
            </a:r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AEF34075-553D-DCE3-D10F-80A603AA9E4A}"/>
              </a:ext>
            </a:extLst>
          </p:cNvPr>
          <p:cNvSpPr/>
          <p:nvPr/>
        </p:nvSpPr>
        <p:spPr>
          <a:xfrm>
            <a:off x="6652260" y="2473452"/>
            <a:ext cx="4251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3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scalable, evidence-grounded way to estimate how proficient someone actually is in a given skill.</a:t>
            </a:r>
            <a:endParaRPr lang="en-US" sz="1600" dirty="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AE570B18-2A7D-10A3-856E-C47D2F1F5FA1}"/>
              </a:ext>
            </a:extLst>
          </p:cNvPr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3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Skill-Scoring NLP Model</a:t>
            </a:r>
            <a:r>
              <a:rPr lang="en-US" sz="900" dirty="0">
                <a:solidFill>
                  <a:srgbClr val="5C6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  Synthetic Generation → RAG → Ordinal Scorer</a:t>
            </a:r>
            <a:endParaRPr lang="en-US" sz="900" dirty="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DF05BDAA-9AA8-4078-4C23-211A2B83E604}"/>
              </a:ext>
            </a:extLst>
          </p:cNvPr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3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43" name="Shape 10">
            <a:extLst>
              <a:ext uri="{FF2B5EF4-FFF2-40B4-BE49-F238E27FC236}">
                <a16:creationId xmlns:a16="http://schemas.microsoft.com/office/drawing/2014/main" id="{5B9B7BA2-39A4-671D-BEF9-C5B6EB47F1A3}"/>
              </a:ext>
            </a:extLst>
          </p:cNvPr>
          <p:cNvSpPr/>
          <p:nvPr/>
        </p:nvSpPr>
        <p:spPr>
          <a:xfrm>
            <a:off x="579121" y="1692230"/>
            <a:ext cx="5212080" cy="4480560"/>
          </a:xfrm>
          <a:prstGeom prst="roundRect">
            <a:avLst>
              <a:gd name="adj" fmla="val 2041"/>
            </a:avLst>
          </a:prstGeom>
          <a:solidFill>
            <a:srgbClr val="16213A"/>
          </a:solidFill>
          <a:ln w="12700">
            <a:solidFill>
              <a:srgbClr val="2A3A5C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44" name="Text 11">
            <a:extLst>
              <a:ext uri="{FF2B5EF4-FFF2-40B4-BE49-F238E27FC236}">
                <a16:creationId xmlns:a16="http://schemas.microsoft.com/office/drawing/2014/main" id="{E034E5FE-1123-EBE2-E046-D6CCDE0AED97}"/>
              </a:ext>
            </a:extLst>
          </p:cNvPr>
          <p:cNvSpPr/>
          <p:nvPr/>
        </p:nvSpPr>
        <p:spPr>
          <a:xfrm>
            <a:off x="853441" y="187511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AF0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approaches fall short</a:t>
            </a:r>
            <a:endParaRPr lang="en-US" sz="1800" dirty="0"/>
          </a:p>
        </p:txBody>
      </p:sp>
      <p:sp>
        <p:nvSpPr>
          <p:cNvPr id="45" name="Shape 12">
            <a:extLst>
              <a:ext uri="{FF2B5EF4-FFF2-40B4-BE49-F238E27FC236}">
                <a16:creationId xmlns:a16="http://schemas.microsoft.com/office/drawing/2014/main" id="{A3473EDA-2847-8C2A-7CE1-9AC6C43E7201}"/>
              </a:ext>
            </a:extLst>
          </p:cNvPr>
          <p:cNvSpPr/>
          <p:nvPr/>
        </p:nvSpPr>
        <p:spPr>
          <a:xfrm>
            <a:off x="853441" y="2378030"/>
            <a:ext cx="384048" cy="384048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46" name="Text 13">
            <a:extLst>
              <a:ext uri="{FF2B5EF4-FFF2-40B4-BE49-F238E27FC236}">
                <a16:creationId xmlns:a16="http://schemas.microsoft.com/office/drawing/2014/main" id="{75FC0ADB-0AA7-CBE8-11FA-7A6FE3A73920}"/>
              </a:ext>
            </a:extLst>
          </p:cNvPr>
          <p:cNvSpPr/>
          <p:nvPr/>
        </p:nvSpPr>
        <p:spPr>
          <a:xfrm>
            <a:off x="853441" y="237803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47" name="Text 14">
            <a:extLst>
              <a:ext uri="{FF2B5EF4-FFF2-40B4-BE49-F238E27FC236}">
                <a16:creationId xmlns:a16="http://schemas.microsoft.com/office/drawing/2014/main" id="{EAEA99F2-04A1-BA9C-1C70-F9FAB5344147}"/>
              </a:ext>
            </a:extLst>
          </p:cNvPr>
          <p:cNvSpPr/>
          <p:nvPr/>
        </p:nvSpPr>
        <p:spPr>
          <a:xfrm>
            <a:off x="1356361" y="2359742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Self-reported skills</a:t>
            </a:r>
            <a:endParaRPr lang="en-US" sz="1400" dirty="0"/>
          </a:p>
        </p:txBody>
      </p:sp>
      <p:sp>
        <p:nvSpPr>
          <p:cNvPr id="48" name="Text 15">
            <a:extLst>
              <a:ext uri="{FF2B5EF4-FFF2-40B4-BE49-F238E27FC236}">
                <a16:creationId xmlns:a16="http://schemas.microsoft.com/office/drawing/2014/main" id="{6DE59DE2-7C6D-0A60-6850-BFE1F43002FD}"/>
              </a:ext>
            </a:extLst>
          </p:cNvPr>
          <p:cNvSpPr/>
          <p:nvPr/>
        </p:nvSpPr>
        <p:spPr>
          <a:xfrm>
            <a:off x="1356361" y="2679782"/>
            <a:ext cx="4251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3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bullet lists and LinkedIn endorsements are unverified, easily inflated, and say nothing about depth.</a:t>
            </a:r>
            <a:endParaRPr lang="en-US" sz="1200" dirty="0"/>
          </a:p>
        </p:txBody>
      </p:sp>
      <p:sp>
        <p:nvSpPr>
          <p:cNvPr id="49" name="Shape 16">
            <a:extLst>
              <a:ext uri="{FF2B5EF4-FFF2-40B4-BE49-F238E27FC236}">
                <a16:creationId xmlns:a16="http://schemas.microsoft.com/office/drawing/2014/main" id="{2A35F8C6-18C4-6844-4E9F-299B3D443B5D}"/>
              </a:ext>
            </a:extLst>
          </p:cNvPr>
          <p:cNvSpPr/>
          <p:nvPr/>
        </p:nvSpPr>
        <p:spPr>
          <a:xfrm>
            <a:off x="853441" y="3676478"/>
            <a:ext cx="384048" cy="384048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50" name="Text 17">
            <a:extLst>
              <a:ext uri="{FF2B5EF4-FFF2-40B4-BE49-F238E27FC236}">
                <a16:creationId xmlns:a16="http://schemas.microsoft.com/office/drawing/2014/main" id="{0B115B12-9C54-1CB0-5E09-D0177526022E}"/>
              </a:ext>
            </a:extLst>
          </p:cNvPr>
          <p:cNvSpPr/>
          <p:nvPr/>
        </p:nvSpPr>
        <p:spPr>
          <a:xfrm>
            <a:off x="853441" y="367647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51" name="Text 18">
            <a:extLst>
              <a:ext uri="{FF2B5EF4-FFF2-40B4-BE49-F238E27FC236}">
                <a16:creationId xmlns:a16="http://schemas.microsoft.com/office/drawing/2014/main" id="{853A0574-5CB2-F824-FAFE-856FDA9A4B69}"/>
              </a:ext>
            </a:extLst>
          </p:cNvPr>
          <p:cNvSpPr/>
          <p:nvPr/>
        </p:nvSpPr>
        <p:spPr>
          <a:xfrm>
            <a:off x="1356361" y="365819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/ ATS matching </a:t>
            </a:r>
            <a:endParaRPr lang="en-US" sz="1400" dirty="0"/>
          </a:p>
        </p:txBody>
      </p:sp>
      <p:sp>
        <p:nvSpPr>
          <p:cNvPr id="52" name="Text 19">
            <a:extLst>
              <a:ext uri="{FF2B5EF4-FFF2-40B4-BE49-F238E27FC236}">
                <a16:creationId xmlns:a16="http://schemas.microsoft.com/office/drawing/2014/main" id="{7A57E8EF-C592-EAEB-0C94-283145AC21E8}"/>
              </a:ext>
            </a:extLst>
          </p:cNvPr>
          <p:cNvSpPr/>
          <p:nvPr/>
        </p:nvSpPr>
        <p:spPr>
          <a:xfrm>
            <a:off x="1356361" y="3978230"/>
            <a:ext cx="4251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3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whether a skill is mentioned, not how proficient the person is. Presence ≠ proficiency.</a:t>
            </a:r>
            <a:endParaRPr lang="en-US" sz="1200" dirty="0"/>
          </a:p>
        </p:txBody>
      </p:sp>
      <p:sp>
        <p:nvSpPr>
          <p:cNvPr id="53" name="Shape 20">
            <a:extLst>
              <a:ext uri="{FF2B5EF4-FFF2-40B4-BE49-F238E27FC236}">
                <a16:creationId xmlns:a16="http://schemas.microsoft.com/office/drawing/2014/main" id="{AD32D81F-533A-2799-44CF-3EA84CC23D4D}"/>
              </a:ext>
            </a:extLst>
          </p:cNvPr>
          <p:cNvSpPr/>
          <p:nvPr/>
        </p:nvSpPr>
        <p:spPr>
          <a:xfrm>
            <a:off x="853441" y="4974926"/>
            <a:ext cx="384048" cy="384048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54" name="Text 21">
            <a:extLst>
              <a:ext uri="{FF2B5EF4-FFF2-40B4-BE49-F238E27FC236}">
                <a16:creationId xmlns:a16="http://schemas.microsoft.com/office/drawing/2014/main" id="{3F01DB4D-889E-BA6D-D923-70250B27A7BB}"/>
              </a:ext>
            </a:extLst>
          </p:cNvPr>
          <p:cNvSpPr/>
          <p:nvPr/>
        </p:nvSpPr>
        <p:spPr>
          <a:xfrm>
            <a:off x="853441" y="497492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55" name="Text 22">
            <a:extLst>
              <a:ext uri="{FF2B5EF4-FFF2-40B4-BE49-F238E27FC236}">
                <a16:creationId xmlns:a16="http://schemas.microsoft.com/office/drawing/2014/main" id="{909B8AD6-8FA3-82F1-A2A6-A34F5D031600}"/>
              </a:ext>
            </a:extLst>
          </p:cNvPr>
          <p:cNvSpPr/>
          <p:nvPr/>
        </p:nvSpPr>
        <p:spPr>
          <a:xfrm>
            <a:off x="1356361" y="4956638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screening </a:t>
            </a:r>
            <a:endParaRPr lang="en-US" sz="1400" dirty="0"/>
          </a:p>
        </p:txBody>
      </p:sp>
      <p:sp>
        <p:nvSpPr>
          <p:cNvPr id="56" name="Text 23">
            <a:extLst>
              <a:ext uri="{FF2B5EF4-FFF2-40B4-BE49-F238E27FC236}">
                <a16:creationId xmlns:a16="http://schemas.microsoft.com/office/drawing/2014/main" id="{2AB852BE-3811-4C01-83E9-A8210492CFFA}"/>
              </a:ext>
            </a:extLst>
          </p:cNvPr>
          <p:cNvSpPr/>
          <p:nvPr/>
        </p:nvSpPr>
        <p:spPr>
          <a:xfrm>
            <a:off x="1356361" y="5276678"/>
            <a:ext cx="4251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3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human reading the evidence is slow, subjective, inconsistent between reviewers, and doesn't scale.</a:t>
            </a:r>
            <a:endParaRPr lang="en-US" sz="1200" dirty="0"/>
          </a:p>
        </p:txBody>
      </p:sp>
      <p:sp>
        <p:nvSpPr>
          <p:cNvPr id="57" name="Text 15">
            <a:extLst>
              <a:ext uri="{FF2B5EF4-FFF2-40B4-BE49-F238E27FC236}">
                <a16:creationId xmlns:a16="http://schemas.microsoft.com/office/drawing/2014/main" id="{AC006861-D01E-84B5-C6FF-D721AE2A2D27}"/>
              </a:ext>
            </a:extLst>
          </p:cNvPr>
          <p:cNvSpPr/>
          <p:nvPr/>
        </p:nvSpPr>
        <p:spPr>
          <a:xfrm>
            <a:off x="6652260" y="3457022"/>
            <a:ext cx="425196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3A4C4"/>
                </a:solidFill>
              </a:rPr>
              <a:t>Existing tools answer "Does this person mention skill X?" ✗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93A4C4"/>
                </a:solidFill>
              </a:rPr>
              <a:t>None answer "How good are they at X — and what's the evidence?" ✓</a:t>
            </a:r>
          </a:p>
        </p:txBody>
      </p:sp>
    </p:spTree>
    <p:extLst>
      <p:ext uri="{BB962C8B-B14F-4D97-AF65-F5344CB8AC3E}">
        <p14:creationId xmlns:p14="http://schemas.microsoft.com/office/powerpoint/2010/main" val="32663562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DEFINITION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4415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EAF0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proficient is a candidate in a specific skill?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Framed as an input → output problem: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394960" cy="1051560"/>
          </a:xfrm>
          <a:prstGeom prst="roundRect">
            <a:avLst>
              <a:gd name="adj" fmla="val 8696"/>
            </a:avLst>
          </a:prstGeom>
          <a:solidFill>
            <a:srgbClr val="16213A"/>
          </a:solidFill>
          <a:ln w="12700">
            <a:solidFill>
              <a:srgbClr val="2A3A5C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6" name="Text 4"/>
          <p:cNvSpPr/>
          <p:nvPr/>
        </p:nvSpPr>
        <p:spPr>
          <a:xfrm>
            <a:off x="777240" y="22860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2542032"/>
            <a:ext cx="4983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candidate's free-text documents (CV, project READMEs, recommendations, LinkedIn, blogs) + a target skill name.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926080" y="3291840"/>
            <a:ext cx="502920" cy="411480"/>
          </a:xfrm>
          <a:prstGeom prst="downArrow">
            <a:avLst/>
          </a:prstGeom>
          <a:solidFill>
            <a:srgbClr val="5B8DEF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9" name="Shape 7"/>
          <p:cNvSpPr/>
          <p:nvPr/>
        </p:nvSpPr>
        <p:spPr>
          <a:xfrm>
            <a:off x="548640" y="3794760"/>
            <a:ext cx="5394960" cy="1051560"/>
          </a:xfrm>
          <a:prstGeom prst="roundRect">
            <a:avLst>
              <a:gd name="adj" fmla="val 8696"/>
            </a:avLst>
          </a:prstGeom>
          <a:solidFill>
            <a:srgbClr val="1E2C4A"/>
          </a:solidFill>
          <a:ln w="12700">
            <a:solidFill>
              <a:srgbClr val="2A3A5C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0" name="Text 8"/>
          <p:cNvSpPr/>
          <p:nvPr/>
        </p:nvSpPr>
        <p:spPr>
          <a:xfrm>
            <a:off x="777240" y="39319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" y="4187952"/>
            <a:ext cx="4983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ordinal proficiency score </a:t>
            </a:r>
            <a:r>
              <a:rPr lang="en-US" sz="1250" b="1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1–5</a:t>
            </a:r>
            <a:r>
              <a:rPr lang="en-US" sz="125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(1 = Awareness … 5 = Expert), grounded in evidence from the documents.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0" y="1691640"/>
            <a:ext cx="5212080" cy="4480560"/>
          </a:xfrm>
          <a:prstGeom prst="roundRect">
            <a:avLst>
              <a:gd name="adj" fmla="val 2041"/>
            </a:avLst>
          </a:prstGeom>
          <a:solidFill>
            <a:srgbClr val="16213A"/>
          </a:solidFill>
          <a:ln w="12700">
            <a:solidFill>
              <a:srgbClr val="2A3A5C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3" name="Text 11"/>
          <p:cNvSpPr/>
          <p:nvPr/>
        </p:nvSpPr>
        <p:spPr>
          <a:xfrm>
            <a:off x="6675120" y="1874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AF0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challenges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675120" y="2377440"/>
            <a:ext cx="384048" cy="384048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5" name="Text 13"/>
          <p:cNvSpPr/>
          <p:nvPr/>
        </p:nvSpPr>
        <p:spPr>
          <a:xfrm>
            <a:off x="6675120" y="23774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178040" y="2359152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labeled data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178040" y="2679192"/>
            <a:ext cx="4251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3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 corpus pairs documents with trustworthy per-skill proficiency — we must manufacture one without leaking the label into the text.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675120" y="3675888"/>
            <a:ext cx="384048" cy="384048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9" name="Text 17"/>
          <p:cNvSpPr/>
          <p:nvPr/>
        </p:nvSpPr>
        <p:spPr>
          <a:xfrm>
            <a:off x="6675120" y="36758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178040" y="365760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Long, noisy input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178040" y="3977640"/>
            <a:ext cx="4251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3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are lengthy; the model needs only the passages relevant to the queried skill.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675120" y="4974336"/>
            <a:ext cx="384048" cy="384048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23" name="Text 21"/>
          <p:cNvSpPr/>
          <p:nvPr/>
        </p:nvSpPr>
        <p:spPr>
          <a:xfrm>
            <a:off x="6675120" y="497433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178040" y="4956048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Ordinal target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178040" y="5276088"/>
            <a:ext cx="4251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3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Levels are ordered (1&lt;2&lt;3&lt;4&lt;5) — being off by 1 is far better than off by 3, so the loss must respect that.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3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Skill-Scoring NLP Model</a:t>
            </a:r>
            <a:r>
              <a:rPr lang="en-US" sz="900" dirty="0">
                <a:solidFill>
                  <a:srgbClr val="5C6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  Synthetic Generation → RAG → Ordinal Scorer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3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4415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EAF0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stages, each producing a verifiable artifact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520440" cy="3017520"/>
          </a:xfrm>
          <a:prstGeom prst="roundRect">
            <a:avLst>
              <a:gd name="adj" fmla="val 3030"/>
            </a:avLst>
          </a:prstGeom>
          <a:solidFill>
            <a:srgbClr val="16213A"/>
          </a:solidFill>
          <a:ln w="12700">
            <a:solidFill>
              <a:srgbClr val="2A3A5C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5" name="Shape 3"/>
          <p:cNvSpPr/>
          <p:nvPr/>
        </p:nvSpPr>
        <p:spPr>
          <a:xfrm>
            <a:off x="822960" y="2194560"/>
            <a:ext cx="502920" cy="502920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6" name="Text 4"/>
          <p:cNvSpPr/>
          <p:nvPr/>
        </p:nvSpPr>
        <p:spPr>
          <a:xfrm>
            <a:off x="822960" y="2194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83464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AF0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Synthetic Generation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3337560"/>
            <a:ext cx="2971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3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local LLM builds 310 realistic candidate personas, plans their documents, allocates per-document evidence, and writes the text — guarded against label leakage and distribution collapse.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078224" y="3264408"/>
            <a:ext cx="228600" cy="329184"/>
          </a:xfrm>
          <a:prstGeom prst="rightArrow">
            <a:avLst/>
          </a:prstGeom>
          <a:solidFill>
            <a:srgbClr val="2A3A5C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0" name="Shape 8"/>
          <p:cNvSpPr/>
          <p:nvPr/>
        </p:nvSpPr>
        <p:spPr>
          <a:xfrm>
            <a:off x="4315968" y="1920240"/>
            <a:ext cx="3520440" cy="3017520"/>
          </a:xfrm>
          <a:prstGeom prst="roundRect">
            <a:avLst>
              <a:gd name="adj" fmla="val 3030"/>
            </a:avLst>
          </a:prstGeom>
          <a:solidFill>
            <a:srgbClr val="16213A"/>
          </a:solidFill>
          <a:ln w="12700">
            <a:solidFill>
              <a:srgbClr val="2A3A5C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1" name="Shape 9"/>
          <p:cNvSpPr/>
          <p:nvPr/>
        </p:nvSpPr>
        <p:spPr>
          <a:xfrm>
            <a:off x="4590288" y="2194560"/>
            <a:ext cx="502920" cy="502920"/>
          </a:xfrm>
          <a:prstGeom prst="ellipse">
            <a:avLst/>
          </a:prstGeom>
          <a:solidFill>
            <a:srgbClr val="5B8DEF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2" name="Text 10"/>
          <p:cNvSpPr/>
          <p:nvPr/>
        </p:nvSpPr>
        <p:spPr>
          <a:xfrm>
            <a:off x="4590288" y="2194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90288" y="283464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AF0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 Bridge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590288" y="3337560"/>
            <a:ext cx="2971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3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(candidate, skill) pair, retrieve the most relevant document chunks and assemble one training row: skill + top-k chunks → declared level.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845552" y="3264408"/>
            <a:ext cx="228600" cy="329184"/>
          </a:xfrm>
          <a:prstGeom prst="rightArrow">
            <a:avLst/>
          </a:prstGeom>
          <a:solidFill>
            <a:srgbClr val="2A3A5C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6" name="Shape 14"/>
          <p:cNvSpPr/>
          <p:nvPr/>
        </p:nvSpPr>
        <p:spPr>
          <a:xfrm>
            <a:off x="8083296" y="1920240"/>
            <a:ext cx="3520440" cy="3017520"/>
          </a:xfrm>
          <a:prstGeom prst="roundRect">
            <a:avLst>
              <a:gd name="adj" fmla="val 3030"/>
            </a:avLst>
          </a:prstGeom>
          <a:solidFill>
            <a:srgbClr val="16213A"/>
          </a:solidFill>
          <a:ln w="12700">
            <a:solidFill>
              <a:srgbClr val="2A3A5C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7" name="Shape 15"/>
          <p:cNvSpPr/>
          <p:nvPr/>
        </p:nvSpPr>
        <p:spPr>
          <a:xfrm>
            <a:off x="8357616" y="2194560"/>
            <a:ext cx="502920" cy="502920"/>
          </a:xfrm>
          <a:prstGeom prst="ellipse">
            <a:avLst/>
          </a:prstGeom>
          <a:solidFill>
            <a:srgbClr val="F4B740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8" name="Text 16"/>
          <p:cNvSpPr/>
          <p:nvPr/>
        </p:nvSpPr>
        <p:spPr>
          <a:xfrm>
            <a:off x="8357616" y="2194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357616" y="283464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AF0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Ordinal Scorer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357616" y="3337560"/>
            <a:ext cx="2971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3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DeBERTa-v3 + a CORAL ordinal head scores the skill 1–5 from the retrieved evidence text alone.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5257800"/>
            <a:ext cx="11091672" cy="914400"/>
          </a:xfrm>
          <a:prstGeom prst="roundRect">
            <a:avLst>
              <a:gd name="adj" fmla="val 10000"/>
            </a:avLst>
          </a:prstGeom>
          <a:solidFill>
            <a:srgbClr val="1E2C4A"/>
          </a:solidFill>
          <a:ln w="12700">
            <a:solidFill>
              <a:srgbClr val="2A3A5C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22" name="Text 20"/>
          <p:cNvSpPr/>
          <p:nvPr/>
        </p:nvSpPr>
        <p:spPr>
          <a:xfrm>
            <a:off x="822960" y="5394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idea:  </a:t>
            </a:r>
            <a:r>
              <a:rPr lang="en-US" sz="135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retrieval ground truth comes </a:t>
            </a:r>
            <a:r>
              <a:rPr lang="en-US" sz="1350" b="1" i="1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free</a:t>
            </a:r>
            <a:r>
              <a:rPr lang="en-US" sz="135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from generation — every document records how strongly it was written to demonstrate each skill, so the retriever can be graded automatically.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3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Skill-Scoring NLP Model</a:t>
            </a:r>
            <a:r>
              <a:rPr lang="en-US" sz="900" dirty="0">
                <a:solidFill>
                  <a:srgbClr val="5C6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  Synthetic Generation → RAG → Ordinal Scorer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3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4415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EAF0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synthetic data — and the scaffolding behind it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4114800" cy="4389120"/>
          </a:xfrm>
          <a:prstGeom prst="roundRect">
            <a:avLst>
              <a:gd name="adj" fmla="val 2222"/>
            </a:avLst>
          </a:prstGeom>
          <a:solidFill>
            <a:srgbClr val="1E2C4A"/>
          </a:solidFill>
          <a:ln w="12700">
            <a:solidFill>
              <a:srgbClr val="2A3A5C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5" name="Text 3"/>
          <p:cNvSpPr/>
          <p:nvPr/>
        </p:nvSpPr>
        <p:spPr>
          <a:xfrm>
            <a:off x="822960" y="19659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AF0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synthetic?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2423160"/>
            <a:ext cx="3611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3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CV corpora with trustworthy per-skill proficiency labels don't exist, and self-reported skills are unreliable.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3429000"/>
            <a:ext cx="3611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generate a controlled corpus where the label is known by construction — and where archetype constraints keep every persona internally consistent.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4892040"/>
            <a:ext cx="3611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 frontend engineer won't come out an expert in Kubernetes.”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983480" y="1783080"/>
            <a:ext cx="3246120" cy="2103120"/>
          </a:xfrm>
          <a:prstGeom prst="roundRect">
            <a:avLst>
              <a:gd name="adj" fmla="val 4348"/>
            </a:avLst>
          </a:prstGeom>
          <a:solidFill>
            <a:srgbClr val="16213A"/>
          </a:solidFill>
          <a:ln w="12700">
            <a:solidFill>
              <a:srgbClr val="2A3A5C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0" name="Text 8"/>
          <p:cNvSpPr/>
          <p:nvPr/>
        </p:nvSpPr>
        <p:spPr>
          <a:xfrm>
            <a:off x="5257800" y="1965960"/>
            <a:ext cx="2697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5257800" y="269748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taxonomy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257800" y="3081528"/>
            <a:ext cx="2697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3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skill carries a category and aliases.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458200" y="1783080"/>
            <a:ext cx="3246120" cy="2103120"/>
          </a:xfrm>
          <a:prstGeom prst="roundRect">
            <a:avLst>
              <a:gd name="adj" fmla="val 4348"/>
            </a:avLst>
          </a:prstGeom>
          <a:solidFill>
            <a:srgbClr val="16213A"/>
          </a:solidFill>
          <a:ln w="12700">
            <a:solidFill>
              <a:srgbClr val="2A3A5C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4" name="Text 12"/>
          <p:cNvSpPr/>
          <p:nvPr/>
        </p:nvSpPr>
        <p:spPr>
          <a:xfrm>
            <a:off x="8732520" y="1965960"/>
            <a:ext cx="2697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8732520" y="269748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Archetypes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732520" y="3081528"/>
            <a:ext cx="2697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3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Primary/secondary categories, per-tier level bands, skill-count range, target %.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983480" y="4114800"/>
            <a:ext cx="3246120" cy="2103120"/>
          </a:xfrm>
          <a:prstGeom prst="roundRect">
            <a:avLst>
              <a:gd name="adj" fmla="val 4348"/>
            </a:avLst>
          </a:prstGeom>
          <a:solidFill>
            <a:srgbClr val="16213A"/>
          </a:solidFill>
          <a:ln w="12700">
            <a:solidFill>
              <a:srgbClr val="2A3A5C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8" name="Text 16"/>
          <p:cNvSpPr/>
          <p:nvPr/>
        </p:nvSpPr>
        <p:spPr>
          <a:xfrm>
            <a:off x="5257800" y="4297680"/>
            <a:ext cx="2697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5257800" y="502920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 brackets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257800" y="5413248"/>
            <a:ext cx="2697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3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to a realistic hi-tech workforce, entry → principal.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458200" y="4114800"/>
            <a:ext cx="3246120" cy="2103120"/>
          </a:xfrm>
          <a:prstGeom prst="roundRect">
            <a:avLst>
              <a:gd name="adj" fmla="val 4348"/>
            </a:avLst>
          </a:prstGeom>
          <a:solidFill>
            <a:srgbClr val="16213A"/>
          </a:solidFill>
          <a:ln w="12700">
            <a:solidFill>
              <a:srgbClr val="2A3A5C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22" name="Text 20"/>
          <p:cNvSpPr/>
          <p:nvPr/>
        </p:nvSpPr>
        <p:spPr>
          <a:xfrm>
            <a:off x="8732520" y="4297680"/>
            <a:ext cx="2697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—</a:t>
            </a:r>
            <a:endParaRPr lang="en-US" sz="3400" dirty="0"/>
          </a:p>
        </p:txBody>
      </p:sp>
      <p:sp>
        <p:nvSpPr>
          <p:cNvPr id="23" name="Text 21"/>
          <p:cNvSpPr/>
          <p:nvPr/>
        </p:nvSpPr>
        <p:spPr>
          <a:xfrm>
            <a:off x="8732520" y="502920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pool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732520" y="5413248"/>
            <a:ext cx="2697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3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Diverse, non-repeating candidate identities.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3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Skill-Scoring NLP Model</a:t>
            </a:r>
            <a:r>
              <a:rPr lang="en-US" sz="900" dirty="0">
                <a:solidFill>
                  <a:srgbClr val="5C6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  Synthetic Generation → RAG → Ordinal Scorer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3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 PIPELINE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4415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EAF0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Each persona runs a 5-phase LLM pipeline (Qwen3 via Ollama)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084832" cy="2743200"/>
          </a:xfrm>
          <a:prstGeom prst="roundRect">
            <a:avLst>
              <a:gd name="adj" fmla="val 4386"/>
            </a:avLst>
          </a:prstGeom>
          <a:solidFill>
            <a:srgbClr val="16213A"/>
          </a:solidFill>
          <a:ln w="12700">
            <a:solidFill>
              <a:srgbClr val="2A3A5C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5" name="Shape 3"/>
          <p:cNvSpPr/>
          <p:nvPr/>
        </p:nvSpPr>
        <p:spPr>
          <a:xfrm>
            <a:off x="777240" y="2267712"/>
            <a:ext cx="457200" cy="457200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6" name="Text 4"/>
          <p:cNvSpPr/>
          <p:nvPr/>
        </p:nvSpPr>
        <p:spPr>
          <a:xfrm>
            <a:off x="777240" y="22677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2852928"/>
            <a:ext cx="17190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3383280"/>
            <a:ext cx="171907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3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archetype + hyperparams; LLM assigns skill levels within each tier's band.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0" y="2011680"/>
            <a:ext cx="2084832" cy="2743200"/>
          </a:xfrm>
          <a:prstGeom prst="roundRect">
            <a:avLst>
              <a:gd name="adj" fmla="val 4386"/>
            </a:avLst>
          </a:prstGeom>
          <a:solidFill>
            <a:srgbClr val="16213A"/>
          </a:solidFill>
          <a:ln w="12700">
            <a:solidFill>
              <a:srgbClr val="2A3A5C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0" name="Shape 8"/>
          <p:cNvSpPr/>
          <p:nvPr/>
        </p:nvSpPr>
        <p:spPr>
          <a:xfrm>
            <a:off x="2971800" y="2267712"/>
            <a:ext cx="457200" cy="457200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1" name="Text 9"/>
          <p:cNvSpPr/>
          <p:nvPr/>
        </p:nvSpPr>
        <p:spPr>
          <a:xfrm>
            <a:off x="2971800" y="22677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926080" y="2852928"/>
            <a:ext cx="17190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docs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926080" y="3383280"/>
            <a:ext cx="171907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3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a doc count (Gaussian by experience); LLM picks which docs — always 1 CV + a mix.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937760" y="2011680"/>
            <a:ext cx="2084832" cy="2743200"/>
          </a:xfrm>
          <a:prstGeom prst="roundRect">
            <a:avLst>
              <a:gd name="adj" fmla="val 4386"/>
            </a:avLst>
          </a:prstGeom>
          <a:solidFill>
            <a:srgbClr val="16213A"/>
          </a:solidFill>
          <a:ln w="12700">
            <a:solidFill>
              <a:srgbClr val="2A3A5C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5" name="Shape 13"/>
          <p:cNvSpPr/>
          <p:nvPr/>
        </p:nvSpPr>
        <p:spPr>
          <a:xfrm>
            <a:off x="5166360" y="2267712"/>
            <a:ext cx="457200" cy="457200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6" name="Text 14"/>
          <p:cNvSpPr/>
          <p:nvPr/>
        </p:nvSpPr>
        <p:spPr>
          <a:xfrm>
            <a:off x="5166360" y="22677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120640" y="2852928"/>
            <a:ext cx="17190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Allocate evidence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120640" y="3383280"/>
            <a:ext cx="171907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3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assigns each (skill, doc) a local intensity 1–5; max across docs must equal the global level.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132320" y="2011680"/>
            <a:ext cx="2084832" cy="2743200"/>
          </a:xfrm>
          <a:prstGeom prst="roundRect">
            <a:avLst>
              <a:gd name="adj" fmla="val 4386"/>
            </a:avLst>
          </a:prstGeom>
          <a:solidFill>
            <a:srgbClr val="16213A"/>
          </a:solidFill>
          <a:ln w="12700">
            <a:solidFill>
              <a:srgbClr val="2A3A5C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20" name="Shape 18"/>
          <p:cNvSpPr/>
          <p:nvPr/>
        </p:nvSpPr>
        <p:spPr>
          <a:xfrm>
            <a:off x="7360920" y="2267712"/>
            <a:ext cx="457200" cy="457200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21" name="Text 19"/>
          <p:cNvSpPr/>
          <p:nvPr/>
        </p:nvSpPr>
        <p:spPr>
          <a:xfrm>
            <a:off x="7360920" y="22677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315200" y="2852928"/>
            <a:ext cx="17190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text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315200" y="3383280"/>
            <a:ext cx="171907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3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Per-doc-type prompt templates turn the allocation into real prose.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326880" y="2011680"/>
            <a:ext cx="2084832" cy="2743200"/>
          </a:xfrm>
          <a:prstGeom prst="roundRect">
            <a:avLst>
              <a:gd name="adj" fmla="val 4386"/>
            </a:avLst>
          </a:prstGeom>
          <a:solidFill>
            <a:srgbClr val="1E2C4A"/>
          </a:solidFill>
          <a:ln w="12700">
            <a:solidFill>
              <a:srgbClr val="2A3A5C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25" name="Shape 23"/>
          <p:cNvSpPr/>
          <p:nvPr/>
        </p:nvSpPr>
        <p:spPr>
          <a:xfrm>
            <a:off x="9555480" y="2267712"/>
            <a:ext cx="457200" cy="457200"/>
          </a:xfrm>
          <a:prstGeom prst="ellipse">
            <a:avLst/>
          </a:prstGeom>
          <a:solidFill>
            <a:srgbClr val="F4B740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26" name="Text 24"/>
          <p:cNvSpPr/>
          <p:nvPr/>
        </p:nvSpPr>
        <p:spPr>
          <a:xfrm>
            <a:off x="9555480" y="22677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509760" y="2852928"/>
            <a:ext cx="17190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509760" y="3383280"/>
            <a:ext cx="171907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3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Collate into personas.json (labels) + documents_db.json (text + evidence).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48640" y="5120640"/>
            <a:ext cx="11091672" cy="960120"/>
          </a:xfrm>
          <a:prstGeom prst="roundRect">
            <a:avLst>
              <a:gd name="adj" fmla="val 9524"/>
            </a:avLst>
          </a:prstGeom>
          <a:solidFill>
            <a:srgbClr val="16213A"/>
          </a:solidFill>
          <a:ln w="12700">
            <a:solidFill>
              <a:srgbClr val="2A3A5C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30" name="Text 28"/>
          <p:cNvSpPr/>
          <p:nvPr/>
        </p:nvSpPr>
        <p:spPr>
          <a:xfrm>
            <a:off x="822960" y="525780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for scale &amp; resilience:  </a:t>
            </a:r>
            <a:r>
              <a:rPr lang="en-US" sz="135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async (aiohttp + semaphore concurrency) with per-persona checkpointing, so a crashed run resumes exactly where it stopped.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3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Skill-Scoring NLP Model</a:t>
            </a:r>
            <a:r>
              <a:rPr lang="en-US" sz="900" dirty="0">
                <a:solidFill>
                  <a:srgbClr val="5C6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  Synthetic Generation → RAG → Ordinal Scorer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3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DECISIONS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4415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EAF0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Choices that keep the dataset learnable and honest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91672" cy="731520"/>
          </a:xfrm>
          <a:prstGeom prst="roundRect">
            <a:avLst>
              <a:gd name="adj" fmla="val 12500"/>
            </a:avLst>
          </a:prstGeom>
          <a:solidFill>
            <a:srgbClr val="16213A"/>
          </a:solidFill>
          <a:ln w="12700">
            <a:solidFill>
              <a:srgbClr val="2A3A5C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5" name="Shape 3"/>
          <p:cNvSpPr/>
          <p:nvPr/>
        </p:nvSpPr>
        <p:spPr>
          <a:xfrm>
            <a:off x="777240" y="1947672"/>
            <a:ext cx="402336" cy="402336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6" name="Text 4"/>
          <p:cNvSpPr/>
          <p:nvPr/>
        </p:nvSpPr>
        <p:spPr>
          <a:xfrm>
            <a:off x="777240" y="194767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17320" y="1856232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Rationality guard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4206240" y="1828800"/>
            <a:ext cx="731520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deterministic post-LLM pass clamps each skill into its tier band and enforces a low-level quota — stopping the LLM's habit of rating everything “3”, which would collapse the label distribution.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633472"/>
            <a:ext cx="11091672" cy="731520"/>
          </a:xfrm>
          <a:prstGeom prst="roundRect">
            <a:avLst>
              <a:gd name="adj" fmla="val 12500"/>
            </a:avLst>
          </a:prstGeom>
          <a:solidFill>
            <a:srgbClr val="16213A"/>
          </a:solidFill>
          <a:ln w="12700">
            <a:solidFill>
              <a:srgbClr val="2A3A5C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0" name="Shape 8"/>
          <p:cNvSpPr/>
          <p:nvPr/>
        </p:nvSpPr>
        <p:spPr>
          <a:xfrm>
            <a:off x="777240" y="2798064"/>
            <a:ext cx="402336" cy="402336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1" name="Text 9"/>
          <p:cNvSpPr/>
          <p:nvPr/>
        </p:nvSpPr>
        <p:spPr>
          <a:xfrm>
            <a:off x="777240" y="279806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417320" y="2706624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allocation constraints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206240" y="2679192"/>
            <a:ext cx="731520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intensities are validated (no local &gt; global; level-1 skills all 1s); a deterministic fallback guarantees a valid record on repeated LLM failure.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483864"/>
            <a:ext cx="11091672" cy="731520"/>
          </a:xfrm>
          <a:prstGeom prst="roundRect">
            <a:avLst>
              <a:gd name="adj" fmla="val 12500"/>
            </a:avLst>
          </a:prstGeom>
          <a:solidFill>
            <a:srgbClr val="16213A"/>
          </a:solidFill>
          <a:ln w="12700">
            <a:solidFill>
              <a:srgbClr val="2A3A5C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5" name="Shape 13"/>
          <p:cNvSpPr/>
          <p:nvPr/>
        </p:nvSpPr>
        <p:spPr>
          <a:xfrm>
            <a:off x="777240" y="3648456"/>
            <a:ext cx="402336" cy="402336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6" name="Text 14"/>
          <p:cNvSpPr/>
          <p:nvPr/>
        </p:nvSpPr>
        <p:spPr>
          <a:xfrm>
            <a:off x="777240" y="364845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417320" y="3557016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Level-1 = invisible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206240" y="3529584"/>
            <a:ext cx="731520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“Awareness” skills must not appear in the text at all — so “skill is mentioned” can't trivially imply a high score.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334256"/>
            <a:ext cx="11091672" cy="731520"/>
          </a:xfrm>
          <a:prstGeom prst="roundRect">
            <a:avLst>
              <a:gd name="adj" fmla="val 12500"/>
            </a:avLst>
          </a:prstGeom>
          <a:solidFill>
            <a:srgbClr val="16213A"/>
          </a:solidFill>
          <a:ln w="12700">
            <a:solidFill>
              <a:srgbClr val="2A3A5C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20" name="Shape 18"/>
          <p:cNvSpPr/>
          <p:nvPr/>
        </p:nvSpPr>
        <p:spPr>
          <a:xfrm>
            <a:off x="777240" y="4498848"/>
            <a:ext cx="402336" cy="402336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21" name="Text 19"/>
          <p:cNvSpPr/>
          <p:nvPr/>
        </p:nvSpPr>
        <p:spPr>
          <a:xfrm>
            <a:off x="777240" y="449884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417320" y="4407408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Anti-repetition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4206240" y="4379976"/>
            <a:ext cx="731520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adaptive TF-IDF phrase tracker bans over-used phrases across documents; per-doc-type temperature + structure seeds force stylistic variety.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5184648"/>
            <a:ext cx="11091672" cy="731520"/>
          </a:xfrm>
          <a:prstGeom prst="roundRect">
            <a:avLst>
              <a:gd name="adj" fmla="val 12500"/>
            </a:avLst>
          </a:prstGeom>
          <a:solidFill>
            <a:srgbClr val="16213A"/>
          </a:solidFill>
          <a:ln w="12700">
            <a:solidFill>
              <a:srgbClr val="2A3A5C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25" name="Shape 23"/>
          <p:cNvSpPr/>
          <p:nvPr/>
        </p:nvSpPr>
        <p:spPr>
          <a:xfrm>
            <a:off x="777240" y="5349240"/>
            <a:ext cx="402336" cy="402336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26" name="Text 24"/>
          <p:cNvSpPr/>
          <p:nvPr/>
        </p:nvSpPr>
        <p:spPr>
          <a:xfrm>
            <a:off x="777240" y="534924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417320" y="52578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Sanitizer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4206240" y="5230368"/>
            <a:ext cx="731520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Strips self-rating phrases (“proficient in”, “Skill: Advanced”) that would leak the label directly into the text.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3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Skill-Scoring NLP Model</a:t>
            </a:r>
            <a:r>
              <a:rPr lang="en-US" sz="900" dirty="0">
                <a:solidFill>
                  <a:srgbClr val="5C6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  Synthetic Generation → RAG → Ordinal Scorer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3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4415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EAF0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explicitly test that the model can't cheat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ANTI-SHORTCUT CHECKS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2670048" cy="2331720"/>
          </a:xfrm>
          <a:prstGeom prst="roundRect">
            <a:avLst>
              <a:gd name="adj" fmla="val 3922"/>
            </a:avLst>
          </a:prstGeom>
          <a:solidFill>
            <a:srgbClr val="16213A"/>
          </a:solidFill>
          <a:ln w="12700">
            <a:solidFill>
              <a:srgbClr val="2A3A5C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6" name="Text 4"/>
          <p:cNvSpPr/>
          <p:nvPr/>
        </p:nvSpPr>
        <p:spPr>
          <a:xfrm>
            <a:off x="731520" y="2240280"/>
            <a:ext cx="230428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~32%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31520" y="2971800"/>
            <a:ext cx="23042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BoW baseline accuracy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31520" y="3429000"/>
            <a:ext cx="230428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3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(threshold 45%) — labels aren't separable by vocabulary. No lexical leakage.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64992" y="2011680"/>
            <a:ext cx="2670048" cy="2331720"/>
          </a:xfrm>
          <a:prstGeom prst="roundRect">
            <a:avLst>
              <a:gd name="adj" fmla="val 3922"/>
            </a:avLst>
          </a:prstGeom>
          <a:solidFill>
            <a:srgbClr val="16213A"/>
          </a:solidFill>
          <a:ln w="12700">
            <a:solidFill>
              <a:srgbClr val="2A3A5C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0" name="Text 8"/>
          <p:cNvSpPr/>
          <p:nvPr/>
        </p:nvSpPr>
        <p:spPr>
          <a:xfrm>
            <a:off x="3547872" y="2240280"/>
            <a:ext cx="230428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5B8D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0.14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547872" y="2971800"/>
            <a:ext cx="23042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 ↔ score (Spearman)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547872" y="3429000"/>
            <a:ext cx="230428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3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(threshold 0.3) — longer text ≠ higher score. Length isn't a shortcut.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81344" y="2011680"/>
            <a:ext cx="2670048" cy="2331720"/>
          </a:xfrm>
          <a:prstGeom prst="roundRect">
            <a:avLst>
              <a:gd name="adj" fmla="val 3922"/>
            </a:avLst>
          </a:prstGeom>
          <a:solidFill>
            <a:srgbClr val="16213A"/>
          </a:solidFill>
          <a:ln w="12700">
            <a:solidFill>
              <a:srgbClr val="2A3A5C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4" name="Text 12"/>
          <p:cNvSpPr/>
          <p:nvPr/>
        </p:nvSpPr>
        <p:spPr>
          <a:xfrm>
            <a:off x="6364224" y="2240280"/>
            <a:ext cx="230428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5B8D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/ 1172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364224" y="2971800"/>
            <a:ext cx="23042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Banned-phrase leaks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364224" y="3429000"/>
            <a:ext cx="230428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3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slipped a self-rating phrase past the sanitizer.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997696" y="2011680"/>
            <a:ext cx="2670048" cy="2331720"/>
          </a:xfrm>
          <a:prstGeom prst="roundRect">
            <a:avLst>
              <a:gd name="adj" fmla="val 3922"/>
            </a:avLst>
          </a:prstGeom>
          <a:solidFill>
            <a:srgbClr val="16213A"/>
          </a:solidFill>
          <a:ln w="12700">
            <a:solidFill>
              <a:srgbClr val="2A3A5C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8" name="Text 16"/>
          <p:cNvSpPr/>
          <p:nvPr/>
        </p:nvSpPr>
        <p:spPr>
          <a:xfrm>
            <a:off x="9180576" y="2240280"/>
            <a:ext cx="230428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 / 1383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9180576" y="2971800"/>
            <a:ext cx="23042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Level-1 leaks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9180576" y="3429000"/>
            <a:ext cx="230428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3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level-1 skills that leaked a mention into the text.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4617720"/>
            <a:ext cx="11091672" cy="1508760"/>
          </a:xfrm>
          <a:prstGeom prst="roundRect">
            <a:avLst>
              <a:gd name="adj" fmla="val 6061"/>
            </a:avLst>
          </a:prstGeom>
          <a:solidFill>
            <a:srgbClr val="1E2C4A"/>
          </a:solidFill>
          <a:ln w="12700">
            <a:solidFill>
              <a:srgbClr val="2A3A5C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22" name="Text 20"/>
          <p:cNvSpPr/>
          <p:nvPr/>
        </p:nvSpPr>
        <p:spPr>
          <a:xfrm>
            <a:off x="82296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LLM-JUDGE CHECKS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22960" y="5029200"/>
            <a:ext cx="105156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Allocation rationality </a:t>
            </a:r>
            <a:r>
              <a:rPr lang="en-US" sz="1250" dirty="0">
                <a:solidFill>
                  <a:srgbClr val="93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7 / 310 personas flagged as incoherent.      </a:t>
            </a:r>
            <a:r>
              <a:rPr lang="en-US" sz="1250" b="1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Skill-showcase consistency </a:t>
            </a:r>
            <a:r>
              <a:rPr lang="en-US" sz="1250" dirty="0">
                <a:solidFill>
                  <a:srgbClr val="93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compares declared level vs the level the document actually conveys; large mismatches are flagged.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22960" y="576072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 rows are tagged, not deleted — exclusion is a config toggle.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3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Skill-Scoring NLP Model</a:t>
            </a:r>
            <a:r>
              <a:rPr lang="en-US" sz="900" dirty="0">
                <a:solidFill>
                  <a:srgbClr val="5C6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  Synthetic Generation → RAG → Ordinal Scorer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3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4415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EAF0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generation pipeline produced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240280" cy="1371600"/>
          </a:xfrm>
          <a:prstGeom prst="roundRect">
            <a:avLst>
              <a:gd name="adj" fmla="val 6667"/>
            </a:avLst>
          </a:prstGeom>
          <a:solidFill>
            <a:srgbClr val="16213A"/>
          </a:solidFill>
          <a:ln w="12700">
            <a:solidFill>
              <a:srgbClr val="2A3A5C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5" name="Text 3"/>
          <p:cNvSpPr/>
          <p:nvPr/>
        </p:nvSpPr>
        <p:spPr>
          <a:xfrm>
            <a:off x="640080" y="1965960"/>
            <a:ext cx="2057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310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40080" y="2724912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3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971800" y="1828800"/>
            <a:ext cx="2240280" cy="1371600"/>
          </a:xfrm>
          <a:prstGeom prst="roundRect">
            <a:avLst>
              <a:gd name="adj" fmla="val 6667"/>
            </a:avLst>
          </a:prstGeom>
          <a:solidFill>
            <a:srgbClr val="16213A"/>
          </a:solidFill>
          <a:ln w="12700">
            <a:solidFill>
              <a:srgbClr val="2A3A5C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8" name="Text 6"/>
          <p:cNvSpPr/>
          <p:nvPr/>
        </p:nvSpPr>
        <p:spPr>
          <a:xfrm>
            <a:off x="3063240" y="1965960"/>
            <a:ext cx="2057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1,172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063240" y="2724912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3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394960" y="1828800"/>
            <a:ext cx="2240280" cy="1371600"/>
          </a:xfrm>
          <a:prstGeom prst="roundRect">
            <a:avLst>
              <a:gd name="adj" fmla="val 6667"/>
            </a:avLst>
          </a:prstGeom>
          <a:solidFill>
            <a:srgbClr val="16213A"/>
          </a:solidFill>
          <a:ln w="12700">
            <a:solidFill>
              <a:srgbClr val="2A3A5C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1" name="Text 9"/>
          <p:cNvSpPr/>
          <p:nvPr/>
        </p:nvSpPr>
        <p:spPr>
          <a:xfrm>
            <a:off x="5486400" y="1965960"/>
            <a:ext cx="2057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3,444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5486400" y="2724912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3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labels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429000"/>
            <a:ext cx="7086600" cy="2743200"/>
          </a:xfrm>
          <a:prstGeom prst="roundRect">
            <a:avLst>
              <a:gd name="adj" fmla="val 3333"/>
            </a:avLst>
          </a:prstGeom>
          <a:solidFill>
            <a:srgbClr val="16213A"/>
          </a:solidFill>
          <a:ln w="12700">
            <a:solidFill>
              <a:srgbClr val="2A3A5C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4" name="Text 12"/>
          <p:cNvSpPr/>
          <p:nvPr/>
        </p:nvSpPr>
        <p:spPr>
          <a:xfrm>
            <a:off x="822960" y="3566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mix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2960" y="395935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3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READMEs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017520" y="3995928"/>
            <a:ext cx="3931920" cy="182880"/>
          </a:xfrm>
          <a:prstGeom prst="roundRect">
            <a:avLst>
              <a:gd name="adj" fmla="val 25000"/>
            </a:avLst>
          </a:prstGeom>
          <a:solidFill>
            <a:srgbClr val="2A3A5C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7" name="Shape 15"/>
          <p:cNvSpPr/>
          <p:nvPr/>
        </p:nvSpPr>
        <p:spPr>
          <a:xfrm>
            <a:off x="3017520" y="3995928"/>
            <a:ext cx="3538728" cy="182880"/>
          </a:xfrm>
          <a:prstGeom prst="roundRect">
            <a:avLst>
              <a:gd name="adj" fmla="val 25000"/>
            </a:avLst>
          </a:prstGeom>
          <a:solidFill>
            <a:srgbClr val="5B8DEF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8" name="Text 16"/>
          <p:cNvSpPr/>
          <p:nvPr/>
        </p:nvSpPr>
        <p:spPr>
          <a:xfrm>
            <a:off x="6995160" y="3941064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36%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22960" y="4398264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3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017520" y="4434840"/>
            <a:ext cx="3931920" cy="182880"/>
          </a:xfrm>
          <a:prstGeom prst="roundRect">
            <a:avLst>
              <a:gd name="adj" fmla="val 25000"/>
            </a:avLst>
          </a:prstGeom>
          <a:solidFill>
            <a:srgbClr val="2A3A5C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21" name="Shape 19"/>
          <p:cNvSpPr/>
          <p:nvPr/>
        </p:nvSpPr>
        <p:spPr>
          <a:xfrm>
            <a:off x="3017520" y="4434840"/>
            <a:ext cx="2555748" cy="182880"/>
          </a:xfrm>
          <a:prstGeom prst="roundRect">
            <a:avLst>
              <a:gd name="adj" fmla="val 25000"/>
            </a:avLst>
          </a:prstGeom>
          <a:solidFill>
            <a:srgbClr val="5B8DEF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22" name="Text 20"/>
          <p:cNvSpPr/>
          <p:nvPr/>
        </p:nvSpPr>
        <p:spPr>
          <a:xfrm>
            <a:off x="6995160" y="4379976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26%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22960" y="4837176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3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017520" y="4873752"/>
            <a:ext cx="3931920" cy="182880"/>
          </a:xfrm>
          <a:prstGeom prst="roundRect">
            <a:avLst>
              <a:gd name="adj" fmla="val 25000"/>
            </a:avLst>
          </a:prstGeom>
          <a:solidFill>
            <a:srgbClr val="2A3A5C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25" name="Shape 23"/>
          <p:cNvSpPr/>
          <p:nvPr/>
        </p:nvSpPr>
        <p:spPr>
          <a:xfrm>
            <a:off x="3017520" y="4873752"/>
            <a:ext cx="1965960" cy="182880"/>
          </a:xfrm>
          <a:prstGeom prst="roundRect">
            <a:avLst>
              <a:gd name="adj" fmla="val 25000"/>
            </a:avLst>
          </a:prstGeom>
          <a:solidFill>
            <a:srgbClr val="5B8DEF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26" name="Text 24"/>
          <p:cNvSpPr/>
          <p:nvPr/>
        </p:nvSpPr>
        <p:spPr>
          <a:xfrm>
            <a:off x="6995160" y="481888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822960" y="527608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3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Blogs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3017520" y="5312664"/>
            <a:ext cx="3931920" cy="182880"/>
          </a:xfrm>
          <a:prstGeom prst="roundRect">
            <a:avLst>
              <a:gd name="adj" fmla="val 25000"/>
            </a:avLst>
          </a:prstGeom>
          <a:solidFill>
            <a:srgbClr val="2A3A5C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29" name="Shape 27"/>
          <p:cNvSpPr/>
          <p:nvPr/>
        </p:nvSpPr>
        <p:spPr>
          <a:xfrm>
            <a:off x="3017520" y="5312664"/>
            <a:ext cx="1179576" cy="182880"/>
          </a:xfrm>
          <a:prstGeom prst="roundRect">
            <a:avLst>
              <a:gd name="adj" fmla="val 25000"/>
            </a:avLst>
          </a:prstGeom>
          <a:solidFill>
            <a:srgbClr val="5B8DEF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30" name="Text 28"/>
          <p:cNvSpPr/>
          <p:nvPr/>
        </p:nvSpPr>
        <p:spPr>
          <a:xfrm>
            <a:off x="6995160" y="5257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12%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822960" y="571500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3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3017520" y="5751576"/>
            <a:ext cx="3931920" cy="182880"/>
          </a:xfrm>
          <a:prstGeom prst="roundRect">
            <a:avLst>
              <a:gd name="adj" fmla="val 25000"/>
            </a:avLst>
          </a:prstGeom>
          <a:solidFill>
            <a:srgbClr val="2A3A5C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33" name="Shape 31"/>
          <p:cNvSpPr/>
          <p:nvPr/>
        </p:nvSpPr>
        <p:spPr>
          <a:xfrm>
            <a:off x="3017520" y="5751576"/>
            <a:ext cx="491490" cy="182880"/>
          </a:xfrm>
          <a:prstGeom prst="roundRect">
            <a:avLst>
              <a:gd name="adj" fmla="val 25000"/>
            </a:avLst>
          </a:prstGeom>
          <a:solidFill>
            <a:srgbClr val="5B8DEF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34" name="Text 32"/>
          <p:cNvSpPr/>
          <p:nvPr/>
        </p:nvSpPr>
        <p:spPr>
          <a:xfrm>
            <a:off x="6995160" y="569671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7863840" y="1828800"/>
            <a:ext cx="3776472" cy="4343400"/>
          </a:xfrm>
          <a:prstGeom prst="roundRect">
            <a:avLst>
              <a:gd name="adj" fmla="val 2421"/>
            </a:avLst>
          </a:prstGeom>
          <a:solidFill>
            <a:srgbClr val="16213A"/>
          </a:solidFill>
          <a:ln w="12700">
            <a:solidFill>
              <a:srgbClr val="2A3A5C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36" name="Text 34"/>
          <p:cNvSpPr/>
          <p:nvPr/>
        </p:nvSpPr>
        <p:spPr>
          <a:xfrm>
            <a:off x="8092440" y="196596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distribution (targets)</a:t>
            </a:r>
            <a:endParaRPr lang="en-US" sz="1300" dirty="0"/>
          </a:p>
        </p:txBody>
      </p:sp>
      <p:graphicFrame>
        <p:nvGraphicFramePr>
          <p:cNvPr id="37" name="Chart 0"/>
          <p:cNvGraphicFramePr/>
          <p:nvPr/>
        </p:nvGraphicFramePr>
        <p:xfrm>
          <a:off x="8001000" y="2331720"/>
          <a:ext cx="352044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8" name="Text 35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3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Skill-Scoring NLP Model</a:t>
            </a:r>
            <a:r>
              <a:rPr lang="en-US" sz="900" dirty="0">
                <a:solidFill>
                  <a:srgbClr val="5C6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  Synthetic Generation → RAG → Ordinal Scorer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3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BRIDGE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4415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EAF0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Turning documents into model-ready training rows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every (persona, skill) pair: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3520440" cy="1828800"/>
          </a:xfrm>
          <a:prstGeom prst="roundRect">
            <a:avLst>
              <a:gd name="adj" fmla="val 5000"/>
            </a:avLst>
          </a:prstGeom>
          <a:solidFill>
            <a:srgbClr val="16213A"/>
          </a:solidFill>
          <a:ln w="12700">
            <a:solidFill>
              <a:srgbClr val="2A3A5C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6" name="Shape 4"/>
          <p:cNvSpPr/>
          <p:nvPr/>
        </p:nvSpPr>
        <p:spPr>
          <a:xfrm>
            <a:off x="822960" y="2404872"/>
            <a:ext cx="457200" cy="457200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7" name="Text 5"/>
          <p:cNvSpPr/>
          <p:nvPr/>
        </p:nvSpPr>
        <p:spPr>
          <a:xfrm>
            <a:off x="822960" y="24048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417320" y="242316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3017520"/>
            <a:ext cx="2971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3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persona's docs into a per-persona ChromaDB collection — chunked ~1000 chars / 150 overlap, idempotent.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078224" y="2916936"/>
            <a:ext cx="228600" cy="292608"/>
          </a:xfrm>
          <a:prstGeom prst="rightArrow">
            <a:avLst/>
          </a:prstGeom>
          <a:solidFill>
            <a:srgbClr val="2A3A5C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1" name="Shape 9"/>
          <p:cNvSpPr/>
          <p:nvPr/>
        </p:nvSpPr>
        <p:spPr>
          <a:xfrm>
            <a:off x="4315968" y="2148840"/>
            <a:ext cx="3520440" cy="1828800"/>
          </a:xfrm>
          <a:prstGeom prst="roundRect">
            <a:avLst>
              <a:gd name="adj" fmla="val 5000"/>
            </a:avLst>
          </a:prstGeom>
          <a:solidFill>
            <a:srgbClr val="16213A"/>
          </a:solidFill>
          <a:ln w="12700">
            <a:solidFill>
              <a:srgbClr val="2A3A5C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2" name="Shape 10"/>
          <p:cNvSpPr/>
          <p:nvPr/>
        </p:nvSpPr>
        <p:spPr>
          <a:xfrm>
            <a:off x="4590288" y="2404872"/>
            <a:ext cx="457200" cy="457200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3" name="Text 11"/>
          <p:cNvSpPr/>
          <p:nvPr/>
        </p:nvSpPr>
        <p:spPr>
          <a:xfrm>
            <a:off x="4590288" y="24048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184648" y="242316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90288" y="3017520"/>
            <a:ext cx="2971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3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the skill name as the query → top-k = 8 chunks.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845552" y="2916936"/>
            <a:ext cx="228600" cy="292608"/>
          </a:xfrm>
          <a:prstGeom prst="rightArrow">
            <a:avLst/>
          </a:prstGeom>
          <a:solidFill>
            <a:srgbClr val="2A3A5C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7" name="Shape 15"/>
          <p:cNvSpPr/>
          <p:nvPr/>
        </p:nvSpPr>
        <p:spPr>
          <a:xfrm>
            <a:off x="8083296" y="2148840"/>
            <a:ext cx="3520440" cy="1828800"/>
          </a:xfrm>
          <a:prstGeom prst="roundRect">
            <a:avLst>
              <a:gd name="adj" fmla="val 5000"/>
            </a:avLst>
          </a:prstGeom>
          <a:solidFill>
            <a:srgbClr val="16213A"/>
          </a:solidFill>
          <a:ln w="12700">
            <a:solidFill>
              <a:srgbClr val="2A3A5C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8" name="Shape 16"/>
          <p:cNvSpPr/>
          <p:nvPr/>
        </p:nvSpPr>
        <p:spPr>
          <a:xfrm>
            <a:off x="8357616" y="2404872"/>
            <a:ext cx="457200" cy="457200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9" name="Text 17"/>
          <p:cNvSpPr/>
          <p:nvPr/>
        </p:nvSpPr>
        <p:spPr>
          <a:xfrm>
            <a:off x="8357616" y="24048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951976" y="242316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Emit row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357616" y="3017520"/>
            <a:ext cx="2971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3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skill, chunk1…chunk8, label  —  where label = the declared level (1–5).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4206240"/>
            <a:ext cx="5486400" cy="1920240"/>
          </a:xfrm>
          <a:prstGeom prst="roundRect">
            <a:avLst>
              <a:gd name="adj" fmla="val 4762"/>
            </a:avLst>
          </a:prstGeom>
          <a:solidFill>
            <a:srgbClr val="1E2C4A"/>
          </a:solidFill>
          <a:ln w="12700">
            <a:solidFill>
              <a:srgbClr val="2A3A5C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23" name="Text 21"/>
          <p:cNvSpPr/>
          <p:nvPr/>
        </p:nvSpPr>
        <p:spPr>
          <a:xfrm>
            <a:off x="822960" y="434340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retrieval ground truth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822960" y="4663440"/>
            <a:ext cx="4983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document's recorded skill_evidence intensity tells us which docs genuinely evidence the skill — so retrieval is graded (Hit / Precision / MRR) automatically.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153912" y="4206240"/>
            <a:ext cx="5486400" cy="1920240"/>
          </a:xfrm>
          <a:prstGeom prst="roundRect">
            <a:avLst>
              <a:gd name="adj" fmla="val 4762"/>
            </a:avLst>
          </a:prstGeom>
          <a:solidFill>
            <a:srgbClr val="16213A"/>
          </a:solidFill>
          <a:ln w="12700">
            <a:solidFill>
              <a:srgbClr val="2A3A5C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26" name="Text 24"/>
          <p:cNvSpPr/>
          <p:nvPr/>
        </p:nvSpPr>
        <p:spPr>
          <a:xfrm>
            <a:off x="6428232" y="434340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Data-quality exclusion rules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6428232" y="4663440"/>
            <a:ext cx="4983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3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are tagged (not dropped) in a sidecar:
</a:t>
            </a:r>
            <a:r>
              <a:rPr lang="en-US" sz="120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skill-mismatch   ·   2  empty retrieval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incoherent-allocation persona   ·   4  failed / too-short doc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3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Skill-Scoring NLP Model</a:t>
            </a:r>
            <a:r>
              <a:rPr lang="en-US" sz="900" dirty="0">
                <a:solidFill>
                  <a:srgbClr val="5C6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  Synthetic Generation → RAG → Ordinal Scorer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3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4415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EAF0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Fusion retrieval + reranking — one path for every query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6949440" cy="640080"/>
          </a:xfrm>
          <a:prstGeom prst="roundRect">
            <a:avLst>
              <a:gd name="adj" fmla="val 14286"/>
            </a:avLst>
          </a:prstGeom>
          <a:solidFill>
            <a:srgbClr val="16213A"/>
          </a:solidFill>
          <a:ln w="12700">
            <a:solidFill>
              <a:srgbClr val="2A3A5C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5" name="Shape 3"/>
          <p:cNvSpPr/>
          <p:nvPr/>
        </p:nvSpPr>
        <p:spPr>
          <a:xfrm>
            <a:off x="749808" y="1911096"/>
            <a:ext cx="384048" cy="384048"/>
          </a:xfrm>
          <a:prstGeom prst="ellipse">
            <a:avLst/>
          </a:prstGeom>
          <a:solidFill>
            <a:srgbClr val="5B8DEF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6" name="Text 4"/>
          <p:cNvSpPr/>
          <p:nvPr/>
        </p:nvSpPr>
        <p:spPr>
          <a:xfrm>
            <a:off x="749808" y="191109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25880" y="1828800"/>
            <a:ext cx="2194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expansion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383280" y="1828800"/>
            <a:ext cx="3977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3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Qwen3 generates query variants (keyword + natural-language).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532888"/>
            <a:ext cx="6949440" cy="640080"/>
          </a:xfrm>
          <a:prstGeom prst="roundRect">
            <a:avLst>
              <a:gd name="adj" fmla="val 14286"/>
            </a:avLst>
          </a:prstGeom>
          <a:solidFill>
            <a:srgbClr val="16213A"/>
          </a:solidFill>
          <a:ln w="12700">
            <a:solidFill>
              <a:srgbClr val="2A3A5C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0" name="Shape 8"/>
          <p:cNvSpPr/>
          <p:nvPr/>
        </p:nvSpPr>
        <p:spPr>
          <a:xfrm>
            <a:off x="749808" y="2660904"/>
            <a:ext cx="384048" cy="384048"/>
          </a:xfrm>
          <a:prstGeom prst="ellipse">
            <a:avLst/>
          </a:prstGeom>
          <a:solidFill>
            <a:srgbClr val="5B8DEF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1" name="Text 9"/>
          <p:cNvSpPr/>
          <p:nvPr/>
        </p:nvSpPr>
        <p:spPr>
          <a:xfrm>
            <a:off x="749808" y="266090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325880" y="2578608"/>
            <a:ext cx="2194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retrieval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383280" y="2578608"/>
            <a:ext cx="3977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3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vector search (nomic-embed-text-v1.5, asymmetric prefixes) + lexical BM25.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282696"/>
            <a:ext cx="6949440" cy="640080"/>
          </a:xfrm>
          <a:prstGeom prst="roundRect">
            <a:avLst>
              <a:gd name="adj" fmla="val 14286"/>
            </a:avLst>
          </a:prstGeom>
          <a:solidFill>
            <a:srgbClr val="16213A"/>
          </a:solidFill>
          <a:ln w="12700">
            <a:solidFill>
              <a:srgbClr val="2A3A5C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5" name="Shape 13"/>
          <p:cNvSpPr/>
          <p:nvPr/>
        </p:nvSpPr>
        <p:spPr>
          <a:xfrm>
            <a:off x="749808" y="3410712"/>
            <a:ext cx="384048" cy="384048"/>
          </a:xfrm>
          <a:prstGeom prst="ellipse">
            <a:avLst/>
          </a:prstGeom>
          <a:solidFill>
            <a:srgbClr val="5B8DEF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6" name="Text 14"/>
          <p:cNvSpPr/>
          <p:nvPr/>
        </p:nvSpPr>
        <p:spPr>
          <a:xfrm>
            <a:off x="749808" y="34107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325880" y="3328416"/>
            <a:ext cx="2194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RRF fusion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3383280" y="3328416"/>
            <a:ext cx="3977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3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Reciprocal Rank Fusion merges all ranked lists, scoring each independently.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4032504"/>
            <a:ext cx="6949440" cy="640080"/>
          </a:xfrm>
          <a:prstGeom prst="roundRect">
            <a:avLst>
              <a:gd name="adj" fmla="val 14286"/>
            </a:avLst>
          </a:prstGeom>
          <a:solidFill>
            <a:srgbClr val="16213A"/>
          </a:solidFill>
          <a:ln w="12700">
            <a:solidFill>
              <a:srgbClr val="2A3A5C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20" name="Shape 18"/>
          <p:cNvSpPr/>
          <p:nvPr/>
        </p:nvSpPr>
        <p:spPr>
          <a:xfrm>
            <a:off x="749808" y="4160520"/>
            <a:ext cx="384048" cy="384048"/>
          </a:xfrm>
          <a:prstGeom prst="ellipse">
            <a:avLst/>
          </a:prstGeom>
          <a:solidFill>
            <a:srgbClr val="5B8DEF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21" name="Text 19"/>
          <p:cNvSpPr/>
          <p:nvPr/>
        </p:nvSpPr>
        <p:spPr>
          <a:xfrm>
            <a:off x="749808" y="41605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325880" y="4078224"/>
            <a:ext cx="2194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Rerank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3383280" y="4078224"/>
            <a:ext cx="3977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3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Qwen3-Reranker-0.6B used correctly as a causal LM — “yes” vs “no” token logit per query–chunk pair.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772400" y="1783080"/>
            <a:ext cx="3867912" cy="2907792"/>
          </a:xfrm>
          <a:prstGeom prst="roundRect">
            <a:avLst>
              <a:gd name="adj" fmla="val 3145"/>
            </a:avLst>
          </a:prstGeom>
          <a:solidFill>
            <a:srgbClr val="1E2C4A"/>
          </a:solidFill>
          <a:ln w="12700">
            <a:solidFill>
              <a:srgbClr val="2A3A5C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25" name="Text 23"/>
          <p:cNvSpPr/>
          <p:nvPr/>
        </p:nvSpPr>
        <p:spPr>
          <a:xfrm>
            <a:off x="8001000" y="19202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quality @8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8001000" y="221284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93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the evidence ground truth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8001000" y="260604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0.998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9601200" y="267919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 rate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001000" y="3264408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0.911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9601200" y="33375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001000" y="3922776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0.983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9601200" y="399592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MRR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7772400" y="4846320"/>
            <a:ext cx="3867912" cy="1280160"/>
          </a:xfrm>
          <a:prstGeom prst="roundRect">
            <a:avLst>
              <a:gd name="adj" fmla="val 7143"/>
            </a:avLst>
          </a:prstGeom>
          <a:solidFill>
            <a:srgbClr val="16213A"/>
          </a:solidFill>
          <a:ln w="12700">
            <a:solidFill>
              <a:srgbClr val="2A3A5C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34" name="Text 32"/>
          <p:cNvSpPr/>
          <p:nvPr/>
        </p:nvSpPr>
        <p:spPr>
          <a:xfrm>
            <a:off x="8001000" y="4983480"/>
            <a:ext cx="3429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right evidence is almost always retrieved and ranked first — retrieval is essentially solved.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3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Skill-Scoring NLP Model</a:t>
            </a:r>
            <a:r>
              <a:rPr lang="en-US" sz="900" dirty="0">
                <a:solidFill>
                  <a:srgbClr val="5C6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  Synthetic Generation → RAG → Ordinal Scorer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3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4415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EAF0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DeBERTa-v3 backbone + MLP ordinal head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6035040" cy="594360"/>
          </a:xfrm>
          <a:prstGeom prst="roundRect">
            <a:avLst>
              <a:gd name="adj" fmla="val 15385"/>
            </a:avLst>
          </a:prstGeom>
          <a:solidFill>
            <a:srgbClr val="1E2C4A"/>
          </a:solidFill>
          <a:ln w="12700">
            <a:solidFill>
              <a:srgbClr val="2A3A5C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5486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 "{skill} [SEP] {chunk1 … chunk8}"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447288" y="2395728"/>
            <a:ext cx="237744" cy="164592"/>
          </a:xfrm>
          <a:prstGeom prst="downArrow">
            <a:avLst/>
          </a:prstGeom>
          <a:solidFill>
            <a:srgbClr val="2A3A5C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7" name="Shape 5"/>
          <p:cNvSpPr/>
          <p:nvPr/>
        </p:nvSpPr>
        <p:spPr>
          <a:xfrm>
            <a:off x="548640" y="2542032"/>
            <a:ext cx="6035040" cy="594360"/>
          </a:xfrm>
          <a:prstGeom prst="roundRect">
            <a:avLst>
              <a:gd name="adj" fmla="val 15385"/>
            </a:avLst>
          </a:prstGeom>
          <a:solidFill>
            <a:srgbClr val="16213A"/>
          </a:solidFill>
          <a:ln w="12700">
            <a:solidFill>
              <a:srgbClr val="2A3A5C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8" name="Text 6"/>
          <p:cNvSpPr/>
          <p:nvPr/>
        </p:nvSpPr>
        <p:spPr>
          <a:xfrm>
            <a:off x="822960" y="2542032"/>
            <a:ext cx="5486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AF0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DeBERTa-v3-base  →  [CLS] embedding (768-d)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447288" y="3108960"/>
            <a:ext cx="237744" cy="164592"/>
          </a:xfrm>
          <a:prstGeom prst="downArrow">
            <a:avLst/>
          </a:prstGeom>
          <a:solidFill>
            <a:srgbClr val="2A3A5C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0" name="Shape 8"/>
          <p:cNvSpPr/>
          <p:nvPr/>
        </p:nvSpPr>
        <p:spPr>
          <a:xfrm>
            <a:off x="548640" y="3255264"/>
            <a:ext cx="6035040" cy="594360"/>
          </a:xfrm>
          <a:prstGeom prst="roundRect">
            <a:avLst>
              <a:gd name="adj" fmla="val 15385"/>
            </a:avLst>
          </a:prstGeom>
          <a:solidFill>
            <a:srgbClr val="16213A"/>
          </a:solidFill>
          <a:ln w="12700">
            <a:solidFill>
              <a:srgbClr val="2A3A5C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1" name="Text 9"/>
          <p:cNvSpPr/>
          <p:nvPr/>
        </p:nvSpPr>
        <p:spPr>
          <a:xfrm>
            <a:off x="822960" y="3255264"/>
            <a:ext cx="5486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3A4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Linear 768 → 256  ·  ReLU  ·  Dropout 0.3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447288" y="3822192"/>
            <a:ext cx="237744" cy="164592"/>
          </a:xfrm>
          <a:prstGeom prst="downArrow">
            <a:avLst/>
          </a:prstGeom>
          <a:solidFill>
            <a:srgbClr val="2A3A5C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3" name="Shape 11"/>
          <p:cNvSpPr/>
          <p:nvPr/>
        </p:nvSpPr>
        <p:spPr>
          <a:xfrm>
            <a:off x="548640" y="3968496"/>
            <a:ext cx="6035040" cy="594360"/>
          </a:xfrm>
          <a:prstGeom prst="roundRect">
            <a:avLst>
              <a:gd name="adj" fmla="val 15385"/>
            </a:avLst>
          </a:prstGeom>
          <a:solidFill>
            <a:srgbClr val="16213A"/>
          </a:solidFill>
          <a:ln w="12700">
            <a:solidFill>
              <a:srgbClr val="2A3A5C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4" name="Text 12"/>
          <p:cNvSpPr/>
          <p:nvPr/>
        </p:nvSpPr>
        <p:spPr>
          <a:xfrm>
            <a:off x="822960" y="3968496"/>
            <a:ext cx="5486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3A4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Linear 256 → 64  ·  ReLU  ·  Dropout 0.3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447288" y="4535424"/>
            <a:ext cx="237744" cy="164592"/>
          </a:xfrm>
          <a:prstGeom prst="downArrow">
            <a:avLst/>
          </a:prstGeom>
          <a:solidFill>
            <a:srgbClr val="2A3A5C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6" name="Shape 14"/>
          <p:cNvSpPr/>
          <p:nvPr/>
        </p:nvSpPr>
        <p:spPr>
          <a:xfrm>
            <a:off x="548640" y="4681728"/>
            <a:ext cx="6035040" cy="594360"/>
          </a:xfrm>
          <a:prstGeom prst="roundRect">
            <a:avLst>
              <a:gd name="adj" fmla="val 15385"/>
            </a:avLst>
          </a:prstGeom>
          <a:solidFill>
            <a:srgbClr val="1E2C4A"/>
          </a:solidFill>
          <a:ln w="12700">
            <a:solidFill>
              <a:srgbClr val="2A3A5C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7" name="Text 15"/>
          <p:cNvSpPr/>
          <p:nvPr/>
        </p:nvSpPr>
        <p:spPr>
          <a:xfrm>
            <a:off x="822960" y="4681728"/>
            <a:ext cx="5486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64 → out   (4 CORAL logits / 5 class logits)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766560" y="1828800"/>
            <a:ext cx="4873752" cy="4023360"/>
          </a:xfrm>
          <a:prstGeom prst="roundRect">
            <a:avLst>
              <a:gd name="adj" fmla="val 2273"/>
            </a:avLst>
          </a:prstGeom>
          <a:solidFill>
            <a:srgbClr val="16213A"/>
          </a:solidFill>
          <a:ln w="12700">
            <a:solidFill>
              <a:srgbClr val="2A3A5C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9" name="Text 17"/>
          <p:cNvSpPr/>
          <p:nvPr/>
        </p:nvSpPr>
        <p:spPr>
          <a:xfrm>
            <a:off x="7040880" y="196596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AF0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engineering choices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7040880" y="2478024"/>
            <a:ext cx="128016" cy="128016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21" name="Text 19"/>
          <p:cNvSpPr/>
          <p:nvPr/>
        </p:nvSpPr>
        <p:spPr>
          <a:xfrm>
            <a:off x="7296912" y="2386584"/>
            <a:ext cx="4160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MAX_LEN = 2048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7296912" y="2679192"/>
            <a:ext cx="4160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3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Fits all 8 chunks + skill. DeBERTa-v3's relative positions run well past its 512 pretraining length.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7040880" y="3328416"/>
            <a:ext cx="128016" cy="128016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24" name="Text 22"/>
          <p:cNvSpPr/>
          <p:nvPr/>
        </p:nvSpPr>
        <p:spPr>
          <a:xfrm>
            <a:off x="7296912" y="3236976"/>
            <a:ext cx="4160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fp32 weights + bf16 autocast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7296912" y="3529584"/>
            <a:ext cx="4160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3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fp16 fine-tuning overflows to NaN; this combo is fast and stable.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7040880" y="4178808"/>
            <a:ext cx="128016" cy="128016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27" name="Text 25"/>
          <p:cNvSpPr/>
          <p:nvPr/>
        </p:nvSpPr>
        <p:spPr>
          <a:xfrm>
            <a:off x="7296912" y="4087368"/>
            <a:ext cx="4160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conditions the score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7296912" y="4379976"/>
            <a:ext cx="4160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3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sees only retrieved evidence for the one queried skill — no self-ratings, no other skills.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7040880" y="5029200"/>
            <a:ext cx="128016" cy="128016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30" name="Text 28"/>
          <p:cNvSpPr/>
          <p:nvPr/>
        </p:nvSpPr>
        <p:spPr>
          <a:xfrm>
            <a:off x="7296912" y="4937760"/>
            <a:ext cx="4160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70 / 15 / 15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7296912" y="5230368"/>
            <a:ext cx="4160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3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val / test split, fixed seed.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3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Skill-Scoring NLP Model</a:t>
            </a:r>
            <a:r>
              <a:rPr lang="en-US" sz="900" dirty="0">
                <a:solidFill>
                  <a:srgbClr val="5C6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  Synthetic Generation → RAG → Ordinal Scorer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3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ORDINAL MODELING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4415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EAF0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label is ordered — so the head choice matters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94960" cy="2606040"/>
          </a:xfrm>
          <a:prstGeom prst="roundRect">
            <a:avLst>
              <a:gd name="adj" fmla="val 3509"/>
            </a:avLst>
          </a:prstGeom>
          <a:solidFill>
            <a:srgbClr val="1E2C4A"/>
          </a:solidFill>
          <a:ln w="12700">
            <a:solidFill>
              <a:srgbClr val="2A3A5C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5" name="Text 3"/>
          <p:cNvSpPr/>
          <p:nvPr/>
        </p:nvSpPr>
        <p:spPr>
          <a:xfrm>
            <a:off x="822960" y="19202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CORAL head  (ordinal)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331720"/>
            <a:ext cx="49377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Outputs K−1 = 4 cumulative logits, trained with coral_loss.
• Decode = count of logits &gt; 0.
• Respects ordering — a “4 vs 5” error costs less than “1 vs 5”.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45352" y="1783080"/>
            <a:ext cx="5394960" cy="2606040"/>
          </a:xfrm>
          <a:prstGeom prst="roundRect">
            <a:avLst>
              <a:gd name="adj" fmla="val 3509"/>
            </a:avLst>
          </a:prstGeom>
          <a:solidFill>
            <a:srgbClr val="16213A"/>
          </a:solidFill>
          <a:ln w="12700">
            <a:solidFill>
              <a:srgbClr val="2A3A5C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8" name="Text 6"/>
          <p:cNvSpPr/>
          <p:nvPr/>
        </p:nvSpPr>
        <p:spPr>
          <a:xfrm>
            <a:off x="6519672" y="19202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93A4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Classifier head  (baseline)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519672" y="2331720"/>
            <a:ext cx="49377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3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5 independent logits + cross-entropy, argmax decode.
• Treats levels as unordered categories.
• No notion that 4 is closer to 5 than 1 is.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4572000"/>
            <a:ext cx="11091672" cy="1554480"/>
          </a:xfrm>
          <a:prstGeom prst="roundRect">
            <a:avLst>
              <a:gd name="adj" fmla="val 5882"/>
            </a:avLst>
          </a:prstGeom>
          <a:solidFill>
            <a:srgbClr val="16213A"/>
          </a:solidFill>
          <a:ln w="12700">
            <a:solidFill>
              <a:srgbClr val="2A3A5C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1" name="Text 9"/>
          <p:cNvSpPr/>
          <p:nvPr/>
        </p:nvSpPr>
        <p:spPr>
          <a:xfrm>
            <a:off x="822960" y="4709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setup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5010912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Freezing: </a:t>
            </a:r>
            <a:r>
              <a:rPr lang="en-US" sz="1250" dirty="0">
                <a:solidFill>
                  <a:srgbClr val="93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+ lower layers always frozen; we compare head-only vs fine-tune top-3 layers (full fine-tune excluded — overfits).   </a:t>
            </a:r>
            <a:r>
              <a:rPr lang="en-US" sz="1250" b="1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Differential LR: </a:t>
            </a:r>
            <a:r>
              <a:rPr lang="en-US" sz="1250" dirty="0">
                <a:solidFill>
                  <a:srgbClr val="93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1e-3, backbone 2e-5.   </a:t>
            </a:r>
            <a:r>
              <a:rPr lang="en-US" sz="1250" b="1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Also: </a:t>
            </a:r>
            <a:r>
              <a:rPr lang="en-US" sz="1250" dirty="0">
                <a:solidFill>
                  <a:srgbClr val="93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 0.3, grad-clip 1.0, AdamW, early stopping on val MAE, best-checkpoint saving.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3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Skill-Scoring NLP Model</a:t>
            </a:r>
            <a:r>
              <a:rPr lang="en-US" sz="900" dirty="0">
                <a:solidFill>
                  <a:srgbClr val="5C6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  Synthetic Generation → RAG → Ordinal Scorer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3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4415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EAF0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clean, single-variable comparison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11091672" cy="502920"/>
          </a:xfrm>
          <a:prstGeom prst="roundRect">
            <a:avLst>
              <a:gd name="adj" fmla="val 9091"/>
            </a:avLst>
          </a:prstGeom>
          <a:solidFill>
            <a:srgbClr val="1E2C4A"/>
          </a:solidFill>
          <a:ln w="12700">
            <a:solidFill>
              <a:srgbClr val="2A3A5C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5" name="Text 3"/>
          <p:cNvSpPr/>
          <p:nvPr/>
        </p:nvSpPr>
        <p:spPr>
          <a:xfrm>
            <a:off x="822960" y="187452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846320" y="1874520"/>
            <a:ext cx="31638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375904" y="1874520"/>
            <a:ext cx="31729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377440"/>
            <a:ext cx="11091672" cy="566928"/>
          </a:xfrm>
          <a:prstGeom prst="rect">
            <a:avLst/>
          </a:prstGeom>
          <a:solidFill>
            <a:srgbClr val="16213A"/>
          </a:solidFill>
          <a:ln w="6350">
            <a:solidFill>
              <a:srgbClr val="2A3A5C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9" name="Text 7"/>
          <p:cNvSpPr/>
          <p:nvPr/>
        </p:nvSpPr>
        <p:spPr>
          <a:xfrm>
            <a:off x="822960" y="2377440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AF0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coral_frozen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46320" y="2377440"/>
            <a:ext cx="316382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CORAL (ordinal)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375904" y="2377440"/>
            <a:ext cx="31729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head-only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944368"/>
            <a:ext cx="11091672" cy="566928"/>
          </a:xfrm>
          <a:prstGeom prst="rect">
            <a:avLst/>
          </a:prstGeom>
          <a:solidFill>
            <a:srgbClr val="16213A"/>
          </a:solidFill>
          <a:ln w="6350">
            <a:solidFill>
              <a:srgbClr val="2A3A5C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3" name="Text 11"/>
          <p:cNvSpPr/>
          <p:nvPr/>
        </p:nvSpPr>
        <p:spPr>
          <a:xfrm>
            <a:off x="822960" y="2944368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AF0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classifier_frozen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46320" y="2944368"/>
            <a:ext cx="316382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 classifier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375904" y="2944368"/>
            <a:ext cx="31729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head-only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511296"/>
            <a:ext cx="11091672" cy="566928"/>
          </a:xfrm>
          <a:prstGeom prst="rect">
            <a:avLst/>
          </a:prstGeom>
          <a:solidFill>
            <a:srgbClr val="20304F"/>
          </a:solidFill>
          <a:ln w="6350">
            <a:solidFill>
              <a:srgbClr val="2A3A5C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7" name="Text 15"/>
          <p:cNvSpPr/>
          <p:nvPr/>
        </p:nvSpPr>
        <p:spPr>
          <a:xfrm>
            <a:off x="822960" y="3511296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B7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coral_top3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46320" y="3511296"/>
            <a:ext cx="316382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CORAL (ordinal)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375904" y="3511296"/>
            <a:ext cx="31729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 layers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4297680"/>
            <a:ext cx="5394960" cy="1783080"/>
          </a:xfrm>
          <a:prstGeom prst="roundRect">
            <a:avLst>
              <a:gd name="adj" fmla="val 5128"/>
            </a:avLst>
          </a:prstGeom>
          <a:solidFill>
            <a:srgbClr val="16213A"/>
          </a:solidFill>
          <a:ln w="12700">
            <a:solidFill>
              <a:srgbClr val="2A3A5C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21" name="Text 19"/>
          <p:cNvSpPr/>
          <p:nvPr/>
        </p:nvSpPr>
        <p:spPr>
          <a:xfrm>
            <a:off x="822960" y="44348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ordinal modeling help?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22960" y="4846320"/>
            <a:ext cx="4937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3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coral_frozen  vs  classifier_frozen  — same capacity, head only differs.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245352" y="4297680"/>
            <a:ext cx="5394960" cy="1783080"/>
          </a:xfrm>
          <a:prstGeom prst="roundRect">
            <a:avLst>
              <a:gd name="adj" fmla="val 5128"/>
            </a:avLst>
          </a:prstGeom>
          <a:solidFill>
            <a:srgbClr val="16213A"/>
          </a:solidFill>
          <a:ln w="12700">
            <a:solidFill>
              <a:srgbClr val="2A3A5C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24" name="Text 22"/>
          <p:cNvSpPr/>
          <p:nvPr/>
        </p:nvSpPr>
        <p:spPr>
          <a:xfrm>
            <a:off x="6519672" y="44348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B8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unfreezing help?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519672" y="4846320"/>
            <a:ext cx="4937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3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coral_frozen  vs  coral_top3  — everything else (data, split, optimizer, max-len) held constant.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3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Skill-Scoring NLP Model</a:t>
            </a:r>
            <a:r>
              <a:rPr lang="en-US" sz="900" dirty="0">
                <a:solidFill>
                  <a:srgbClr val="5C6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  Synthetic Generation → RAG → Ordinal Scorer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3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4415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EAF0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comparison — test set, n = 469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0177272" cy="457200"/>
          </a:xfrm>
          <a:prstGeom prst="rect">
            <a:avLst/>
          </a:prstGeom>
          <a:solidFill>
            <a:srgbClr val="1E2C4A"/>
          </a:solidFill>
          <a:ln w="12700">
            <a:solidFill>
              <a:srgbClr val="2A3A5C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5" name="Text 3"/>
          <p:cNvSpPr/>
          <p:nvPr/>
        </p:nvSpPr>
        <p:spPr>
          <a:xfrm>
            <a:off x="685800" y="17830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3886200" y="178308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↓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257800" y="178308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537960" y="178308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±1 Acc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909560" y="178308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QWK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9189720" y="1783080"/>
            <a:ext cx="1490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Spearman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2240280"/>
            <a:ext cx="10177272" cy="512064"/>
          </a:xfrm>
          <a:prstGeom prst="rect">
            <a:avLst/>
          </a:prstGeom>
          <a:solidFill>
            <a:srgbClr val="22335A"/>
          </a:solidFill>
          <a:ln w="6350">
            <a:solidFill>
              <a:srgbClr val="2A3A5C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2" name="Text 10"/>
          <p:cNvSpPr/>
          <p:nvPr/>
        </p:nvSpPr>
        <p:spPr>
          <a:xfrm>
            <a:off x="685800" y="2240280"/>
            <a:ext cx="3017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4B7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coral_top3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886200" y="2240280"/>
            <a:ext cx="11887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0.467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257800" y="2240280"/>
            <a:ext cx="10972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0.578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537960" y="2240280"/>
            <a:ext cx="11887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0.957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909560" y="2240280"/>
            <a:ext cx="10972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0.804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9189720" y="2240280"/>
            <a:ext cx="149047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0.793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2752344"/>
            <a:ext cx="10177272" cy="512064"/>
          </a:xfrm>
          <a:prstGeom prst="rect">
            <a:avLst/>
          </a:prstGeom>
          <a:solidFill>
            <a:srgbClr val="16213A"/>
          </a:solidFill>
          <a:ln w="6350">
            <a:solidFill>
              <a:srgbClr val="2A3A5C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9" name="Text 17"/>
          <p:cNvSpPr/>
          <p:nvPr/>
        </p:nvSpPr>
        <p:spPr>
          <a:xfrm>
            <a:off x="685800" y="2752344"/>
            <a:ext cx="3017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93A4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classifier_frozen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3886200" y="2752344"/>
            <a:ext cx="11887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93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0.838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257800" y="2752344"/>
            <a:ext cx="10972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93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0.367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537960" y="2752344"/>
            <a:ext cx="11887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93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0.812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909560" y="2752344"/>
            <a:ext cx="10972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93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0.286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9189720" y="2752344"/>
            <a:ext cx="149047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93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0.355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48640" y="3264408"/>
            <a:ext cx="10177272" cy="512064"/>
          </a:xfrm>
          <a:prstGeom prst="rect">
            <a:avLst/>
          </a:prstGeom>
          <a:solidFill>
            <a:srgbClr val="16213A"/>
          </a:solidFill>
          <a:ln w="6350">
            <a:solidFill>
              <a:srgbClr val="2A3A5C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6" name="Text 24"/>
          <p:cNvSpPr/>
          <p:nvPr/>
        </p:nvSpPr>
        <p:spPr>
          <a:xfrm>
            <a:off x="685800" y="3264408"/>
            <a:ext cx="3017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93A4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coral_frozen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3886200" y="3264408"/>
            <a:ext cx="11887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93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0.857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5257800" y="3264408"/>
            <a:ext cx="10972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93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0.356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537960" y="3264408"/>
            <a:ext cx="11887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93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0.794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7909560" y="3264408"/>
            <a:ext cx="10972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93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0.237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9189720" y="3264408"/>
            <a:ext cx="149047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93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0.325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548640" y="3703320"/>
            <a:ext cx="11091672" cy="749808"/>
          </a:xfrm>
          <a:prstGeom prst="roundRect">
            <a:avLst>
              <a:gd name="adj" fmla="val 12195"/>
            </a:avLst>
          </a:prstGeom>
          <a:solidFill>
            <a:srgbClr val="1E2C4A"/>
          </a:solidFill>
          <a:ln w="12700">
            <a:solidFill>
              <a:srgbClr val="2A3A5C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33" name="Shape 31"/>
          <p:cNvSpPr/>
          <p:nvPr/>
        </p:nvSpPr>
        <p:spPr>
          <a:xfrm>
            <a:off x="749808" y="3877056"/>
            <a:ext cx="402336" cy="402336"/>
          </a:xfrm>
          <a:prstGeom prst="ellipse">
            <a:avLst/>
          </a:prstGeom>
          <a:solidFill>
            <a:srgbClr val="F4B740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34" name="Text 32"/>
          <p:cNvSpPr/>
          <p:nvPr/>
        </p:nvSpPr>
        <p:spPr>
          <a:xfrm>
            <a:off x="749808" y="387705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1325880" y="3758184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the top layers is the unlock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5394960" y="3758184"/>
            <a:ext cx="6126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frozen [CLS] embedding lacks ordinal signal; the frozen heads collapse toward the middle class.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48640" y="4544568"/>
            <a:ext cx="11091672" cy="749808"/>
          </a:xfrm>
          <a:prstGeom prst="roundRect">
            <a:avLst>
              <a:gd name="adj" fmla="val 12195"/>
            </a:avLst>
          </a:prstGeom>
          <a:solidFill>
            <a:srgbClr val="16213A"/>
          </a:solidFill>
          <a:ln w="12700">
            <a:solidFill>
              <a:srgbClr val="2A3A5C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38" name="Shape 36"/>
          <p:cNvSpPr/>
          <p:nvPr/>
        </p:nvSpPr>
        <p:spPr>
          <a:xfrm>
            <a:off x="749808" y="4718304"/>
            <a:ext cx="402336" cy="402336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39" name="Text 37"/>
          <p:cNvSpPr/>
          <p:nvPr/>
        </p:nvSpPr>
        <p:spPr>
          <a:xfrm>
            <a:off x="749808" y="471830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1325880" y="4599432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CORAL ≥ classifier</a:t>
            </a:r>
            <a:endParaRPr lang="en-US" sz="1350" dirty="0"/>
          </a:p>
        </p:txBody>
      </p:sp>
      <p:sp>
        <p:nvSpPr>
          <p:cNvPr id="41" name="Text 39"/>
          <p:cNvSpPr/>
          <p:nvPr/>
        </p:nvSpPr>
        <p:spPr>
          <a:xfrm>
            <a:off x="5394960" y="4599432"/>
            <a:ext cx="6126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ordinal head's advantage compounds once the backbone can adapt.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548640" y="5385816"/>
            <a:ext cx="11091672" cy="749808"/>
          </a:xfrm>
          <a:prstGeom prst="roundRect">
            <a:avLst>
              <a:gd name="adj" fmla="val 12195"/>
            </a:avLst>
          </a:prstGeom>
          <a:solidFill>
            <a:srgbClr val="16213A"/>
          </a:solidFill>
          <a:ln w="12700">
            <a:solidFill>
              <a:srgbClr val="2A3A5C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43" name="Shape 41"/>
          <p:cNvSpPr/>
          <p:nvPr/>
        </p:nvSpPr>
        <p:spPr>
          <a:xfrm>
            <a:off x="749808" y="5559552"/>
            <a:ext cx="402336" cy="402336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44" name="Text 42"/>
          <p:cNvSpPr/>
          <p:nvPr/>
        </p:nvSpPr>
        <p:spPr>
          <a:xfrm>
            <a:off x="749808" y="555955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1325880" y="5440680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±1 level 95.7% of the time</a:t>
            </a:r>
            <a:endParaRPr lang="en-US" sz="1350" dirty="0"/>
          </a:p>
        </p:txBody>
      </p:sp>
      <p:sp>
        <p:nvSpPr>
          <p:cNvPr id="46" name="Text 44"/>
          <p:cNvSpPr/>
          <p:nvPr/>
        </p:nvSpPr>
        <p:spPr>
          <a:xfrm>
            <a:off x="5394960" y="5440680"/>
            <a:ext cx="6126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QWK 0.80 — strong ordinal agreement with ground truth.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3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Skill-Scoring NLP Model</a:t>
            </a:r>
            <a:r>
              <a:rPr lang="en-US" sz="900" dirty="0">
                <a:solidFill>
                  <a:srgbClr val="5C6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  Synthetic Generation → RAG → Ordinal Scorer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3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 — ERROR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4415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EAF0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coral_top3: where it wins and where it struggles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188720" y="18745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3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→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88720" y="1856232"/>
            <a:ext cx="713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3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901952" y="1856232"/>
            <a:ext cx="713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3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615184" y="1856232"/>
            <a:ext cx="713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3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328416" y="1856232"/>
            <a:ext cx="713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3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041648" y="1856232"/>
            <a:ext cx="713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3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2148840"/>
            <a:ext cx="274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3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88720" y="2148840"/>
            <a:ext cx="667512" cy="667512"/>
          </a:xfrm>
          <a:prstGeom prst="rect">
            <a:avLst/>
          </a:prstGeom>
          <a:solidFill>
            <a:srgbClr val="2DD4BF">
              <a:alpha val="51000"/>
            </a:srgbClr>
          </a:solidFill>
          <a:ln w="6350">
            <a:solidFill>
              <a:srgbClr val="2A3A5C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3" name="Text 11"/>
          <p:cNvSpPr/>
          <p:nvPr/>
        </p:nvSpPr>
        <p:spPr>
          <a:xfrm>
            <a:off x="1188720" y="2148840"/>
            <a:ext cx="667512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901952" y="2148840"/>
            <a:ext cx="667512" cy="667512"/>
          </a:xfrm>
          <a:prstGeom prst="rect">
            <a:avLst/>
          </a:prstGeom>
          <a:solidFill>
            <a:srgbClr val="5B8DEF">
              <a:alpha val="19000"/>
            </a:srgbClr>
          </a:solidFill>
          <a:ln w="6350">
            <a:solidFill>
              <a:srgbClr val="2A3A5C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5" name="Text 13"/>
          <p:cNvSpPr/>
          <p:nvPr/>
        </p:nvSpPr>
        <p:spPr>
          <a:xfrm>
            <a:off x="1901952" y="2148840"/>
            <a:ext cx="667512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615184" y="2148840"/>
            <a:ext cx="667512" cy="667512"/>
          </a:xfrm>
          <a:prstGeom prst="rect">
            <a:avLst/>
          </a:prstGeom>
          <a:solidFill>
            <a:srgbClr val="5B8DEF">
              <a:alpha val="19000"/>
            </a:srgbClr>
          </a:solidFill>
          <a:ln w="6350">
            <a:solidFill>
              <a:srgbClr val="2A3A5C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7" name="Text 15"/>
          <p:cNvSpPr/>
          <p:nvPr/>
        </p:nvSpPr>
        <p:spPr>
          <a:xfrm>
            <a:off x="2615184" y="2148840"/>
            <a:ext cx="667512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328416" y="2148840"/>
            <a:ext cx="667512" cy="667512"/>
          </a:xfrm>
          <a:prstGeom prst="rect">
            <a:avLst/>
          </a:prstGeom>
          <a:solidFill>
            <a:srgbClr val="16213A">
              <a:alpha val="12000"/>
            </a:srgbClr>
          </a:solidFill>
          <a:ln w="6350">
            <a:solidFill>
              <a:srgbClr val="2A3A5C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9" name="Shape 17"/>
          <p:cNvSpPr/>
          <p:nvPr/>
        </p:nvSpPr>
        <p:spPr>
          <a:xfrm>
            <a:off x="4041648" y="2148840"/>
            <a:ext cx="667512" cy="667512"/>
          </a:xfrm>
          <a:prstGeom prst="rect">
            <a:avLst/>
          </a:prstGeom>
          <a:solidFill>
            <a:srgbClr val="16213A">
              <a:alpha val="12000"/>
            </a:srgbClr>
          </a:solidFill>
          <a:ln w="6350">
            <a:solidFill>
              <a:srgbClr val="2A3A5C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0" name="Text 18"/>
          <p:cNvSpPr/>
          <p:nvPr/>
        </p:nvSpPr>
        <p:spPr>
          <a:xfrm>
            <a:off x="822960" y="2862072"/>
            <a:ext cx="274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3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188720" y="2862072"/>
            <a:ext cx="667512" cy="667512"/>
          </a:xfrm>
          <a:prstGeom prst="rect">
            <a:avLst/>
          </a:prstGeom>
          <a:solidFill>
            <a:srgbClr val="5B8DEF">
              <a:alpha val="34000"/>
            </a:srgbClr>
          </a:solidFill>
          <a:ln w="6350">
            <a:solidFill>
              <a:srgbClr val="2A3A5C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2" name="Text 20"/>
          <p:cNvSpPr/>
          <p:nvPr/>
        </p:nvSpPr>
        <p:spPr>
          <a:xfrm>
            <a:off x="1188720" y="2862072"/>
            <a:ext cx="667512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901952" y="2862072"/>
            <a:ext cx="667512" cy="667512"/>
          </a:xfrm>
          <a:prstGeom prst="rect">
            <a:avLst/>
          </a:prstGeom>
          <a:solidFill>
            <a:srgbClr val="2DD4BF">
              <a:alpha val="43000"/>
            </a:srgbClr>
          </a:solidFill>
          <a:ln w="6350">
            <a:solidFill>
              <a:srgbClr val="2A3A5C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4" name="Text 22"/>
          <p:cNvSpPr/>
          <p:nvPr/>
        </p:nvSpPr>
        <p:spPr>
          <a:xfrm>
            <a:off x="1901952" y="2862072"/>
            <a:ext cx="667512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615184" y="2862072"/>
            <a:ext cx="667512" cy="667512"/>
          </a:xfrm>
          <a:prstGeom prst="rect">
            <a:avLst/>
          </a:prstGeom>
          <a:solidFill>
            <a:srgbClr val="5B8DEF">
              <a:alpha val="30000"/>
            </a:srgbClr>
          </a:solidFill>
          <a:ln w="6350">
            <a:solidFill>
              <a:srgbClr val="2A3A5C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6" name="Text 24"/>
          <p:cNvSpPr/>
          <p:nvPr/>
        </p:nvSpPr>
        <p:spPr>
          <a:xfrm>
            <a:off x="2615184" y="2862072"/>
            <a:ext cx="667512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328416" y="2862072"/>
            <a:ext cx="667512" cy="667512"/>
          </a:xfrm>
          <a:prstGeom prst="rect">
            <a:avLst/>
          </a:prstGeom>
          <a:solidFill>
            <a:srgbClr val="5B8DEF">
              <a:alpha val="18000"/>
            </a:srgbClr>
          </a:solidFill>
          <a:ln w="6350">
            <a:solidFill>
              <a:srgbClr val="2A3A5C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8" name="Text 26"/>
          <p:cNvSpPr/>
          <p:nvPr/>
        </p:nvSpPr>
        <p:spPr>
          <a:xfrm>
            <a:off x="3328416" y="2862072"/>
            <a:ext cx="667512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041648" y="2862072"/>
            <a:ext cx="667512" cy="667512"/>
          </a:xfrm>
          <a:prstGeom prst="rect">
            <a:avLst/>
          </a:prstGeom>
          <a:solidFill>
            <a:srgbClr val="16213A">
              <a:alpha val="12000"/>
            </a:srgbClr>
          </a:solidFill>
          <a:ln w="6350">
            <a:solidFill>
              <a:srgbClr val="2A3A5C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0" name="Text 28"/>
          <p:cNvSpPr/>
          <p:nvPr/>
        </p:nvSpPr>
        <p:spPr>
          <a:xfrm>
            <a:off x="822960" y="3575304"/>
            <a:ext cx="274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3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188720" y="3575304"/>
            <a:ext cx="667512" cy="667512"/>
          </a:xfrm>
          <a:prstGeom prst="rect">
            <a:avLst/>
          </a:prstGeom>
          <a:solidFill>
            <a:srgbClr val="5B8DEF">
              <a:alpha val="16000"/>
            </a:srgbClr>
          </a:solidFill>
          <a:ln w="6350">
            <a:solidFill>
              <a:srgbClr val="2A3A5C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2" name="Text 30"/>
          <p:cNvSpPr/>
          <p:nvPr/>
        </p:nvSpPr>
        <p:spPr>
          <a:xfrm>
            <a:off x="1188720" y="3575304"/>
            <a:ext cx="667512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1901952" y="3575304"/>
            <a:ext cx="667512" cy="667512"/>
          </a:xfrm>
          <a:prstGeom prst="rect">
            <a:avLst/>
          </a:prstGeom>
          <a:solidFill>
            <a:srgbClr val="5B8DEF">
              <a:alpha val="23000"/>
            </a:srgbClr>
          </a:solidFill>
          <a:ln w="6350">
            <a:solidFill>
              <a:srgbClr val="2A3A5C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4" name="Text 32"/>
          <p:cNvSpPr/>
          <p:nvPr/>
        </p:nvSpPr>
        <p:spPr>
          <a:xfrm>
            <a:off x="1901952" y="3575304"/>
            <a:ext cx="667512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2615184" y="3575304"/>
            <a:ext cx="667512" cy="667512"/>
          </a:xfrm>
          <a:prstGeom prst="rect">
            <a:avLst/>
          </a:prstGeom>
          <a:solidFill>
            <a:srgbClr val="2DD4BF">
              <a:alpha val="75000"/>
            </a:srgbClr>
          </a:solidFill>
          <a:ln w="6350">
            <a:solidFill>
              <a:srgbClr val="2A3A5C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6" name="Text 34"/>
          <p:cNvSpPr/>
          <p:nvPr/>
        </p:nvSpPr>
        <p:spPr>
          <a:xfrm>
            <a:off x="2615184" y="3575304"/>
            <a:ext cx="667512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3328416" y="3575304"/>
            <a:ext cx="667512" cy="667512"/>
          </a:xfrm>
          <a:prstGeom prst="rect">
            <a:avLst/>
          </a:prstGeom>
          <a:solidFill>
            <a:srgbClr val="5B8DEF">
              <a:alpha val="57000"/>
            </a:srgbClr>
          </a:solidFill>
          <a:ln w="6350">
            <a:solidFill>
              <a:srgbClr val="2A3A5C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8" name="Text 36"/>
          <p:cNvSpPr/>
          <p:nvPr/>
        </p:nvSpPr>
        <p:spPr>
          <a:xfrm>
            <a:off x="3328416" y="3575304"/>
            <a:ext cx="667512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041648" y="3575304"/>
            <a:ext cx="667512" cy="667512"/>
          </a:xfrm>
          <a:prstGeom prst="rect">
            <a:avLst/>
          </a:prstGeom>
          <a:solidFill>
            <a:srgbClr val="5B8DEF">
              <a:alpha val="17000"/>
            </a:srgbClr>
          </a:solidFill>
          <a:ln w="6350">
            <a:solidFill>
              <a:srgbClr val="2A3A5C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0" name="Text 38"/>
          <p:cNvSpPr/>
          <p:nvPr/>
        </p:nvSpPr>
        <p:spPr>
          <a:xfrm>
            <a:off x="4041648" y="3575304"/>
            <a:ext cx="667512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822960" y="4288536"/>
            <a:ext cx="274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3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1188720" y="4288536"/>
            <a:ext cx="667512" cy="667512"/>
          </a:xfrm>
          <a:prstGeom prst="rect">
            <a:avLst/>
          </a:prstGeom>
          <a:solidFill>
            <a:srgbClr val="5B8DEF">
              <a:alpha val="16000"/>
            </a:srgbClr>
          </a:solidFill>
          <a:ln w="6350">
            <a:solidFill>
              <a:srgbClr val="2A3A5C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3" name="Text 41"/>
          <p:cNvSpPr/>
          <p:nvPr/>
        </p:nvSpPr>
        <p:spPr>
          <a:xfrm>
            <a:off x="1188720" y="4288536"/>
            <a:ext cx="667512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1901952" y="4288536"/>
            <a:ext cx="667512" cy="667512"/>
          </a:xfrm>
          <a:prstGeom prst="rect">
            <a:avLst/>
          </a:prstGeom>
          <a:solidFill>
            <a:srgbClr val="5B8DEF">
              <a:alpha val="16000"/>
            </a:srgbClr>
          </a:solidFill>
          <a:ln w="6350">
            <a:solidFill>
              <a:srgbClr val="2A3A5C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5" name="Text 43"/>
          <p:cNvSpPr/>
          <p:nvPr/>
        </p:nvSpPr>
        <p:spPr>
          <a:xfrm>
            <a:off x="1901952" y="4288536"/>
            <a:ext cx="667512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2615184" y="4288536"/>
            <a:ext cx="667512" cy="667512"/>
          </a:xfrm>
          <a:prstGeom prst="rect">
            <a:avLst/>
          </a:prstGeom>
          <a:solidFill>
            <a:srgbClr val="5B8DEF">
              <a:alpha val="28000"/>
            </a:srgbClr>
          </a:solidFill>
          <a:ln w="6350">
            <a:solidFill>
              <a:srgbClr val="2A3A5C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7" name="Text 45"/>
          <p:cNvSpPr/>
          <p:nvPr/>
        </p:nvSpPr>
        <p:spPr>
          <a:xfrm>
            <a:off x="2615184" y="4288536"/>
            <a:ext cx="667512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3328416" y="4288536"/>
            <a:ext cx="667512" cy="667512"/>
          </a:xfrm>
          <a:prstGeom prst="rect">
            <a:avLst/>
          </a:prstGeom>
          <a:solidFill>
            <a:srgbClr val="2DD4BF">
              <a:alpha val="93000"/>
            </a:srgbClr>
          </a:solidFill>
          <a:ln w="6350">
            <a:solidFill>
              <a:srgbClr val="2A3A5C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9" name="Text 47"/>
          <p:cNvSpPr/>
          <p:nvPr/>
        </p:nvSpPr>
        <p:spPr>
          <a:xfrm>
            <a:off x="3328416" y="4288536"/>
            <a:ext cx="667512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4041648" y="4288536"/>
            <a:ext cx="667512" cy="667512"/>
          </a:xfrm>
          <a:prstGeom prst="rect">
            <a:avLst/>
          </a:prstGeom>
          <a:solidFill>
            <a:srgbClr val="5B8DEF">
              <a:alpha val="30000"/>
            </a:srgbClr>
          </a:solidFill>
          <a:ln w="6350">
            <a:solidFill>
              <a:srgbClr val="2A3A5C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51" name="Text 49"/>
          <p:cNvSpPr/>
          <p:nvPr/>
        </p:nvSpPr>
        <p:spPr>
          <a:xfrm>
            <a:off x="4041648" y="4288536"/>
            <a:ext cx="667512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822960" y="5001768"/>
            <a:ext cx="274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3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1188720" y="5001768"/>
            <a:ext cx="667512" cy="667512"/>
          </a:xfrm>
          <a:prstGeom prst="rect">
            <a:avLst/>
          </a:prstGeom>
          <a:solidFill>
            <a:srgbClr val="16213A">
              <a:alpha val="12000"/>
            </a:srgbClr>
          </a:solidFill>
          <a:ln w="6350">
            <a:solidFill>
              <a:srgbClr val="2A3A5C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54" name="Shape 52"/>
          <p:cNvSpPr/>
          <p:nvPr/>
        </p:nvSpPr>
        <p:spPr>
          <a:xfrm>
            <a:off x="1901952" y="5001768"/>
            <a:ext cx="667512" cy="667512"/>
          </a:xfrm>
          <a:prstGeom prst="rect">
            <a:avLst/>
          </a:prstGeom>
          <a:solidFill>
            <a:srgbClr val="16213A">
              <a:alpha val="12000"/>
            </a:srgbClr>
          </a:solidFill>
          <a:ln w="6350">
            <a:solidFill>
              <a:srgbClr val="2A3A5C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55" name="Shape 53"/>
          <p:cNvSpPr/>
          <p:nvPr/>
        </p:nvSpPr>
        <p:spPr>
          <a:xfrm>
            <a:off x="2615184" y="5001768"/>
            <a:ext cx="667512" cy="667512"/>
          </a:xfrm>
          <a:prstGeom prst="rect">
            <a:avLst/>
          </a:prstGeom>
          <a:solidFill>
            <a:srgbClr val="5B8DEF">
              <a:alpha val="20000"/>
            </a:srgbClr>
          </a:solidFill>
          <a:ln w="6350">
            <a:solidFill>
              <a:srgbClr val="2A3A5C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56" name="Text 54"/>
          <p:cNvSpPr/>
          <p:nvPr/>
        </p:nvSpPr>
        <p:spPr>
          <a:xfrm>
            <a:off x="2615184" y="5001768"/>
            <a:ext cx="667512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3328416" y="5001768"/>
            <a:ext cx="667512" cy="667512"/>
          </a:xfrm>
          <a:prstGeom prst="rect">
            <a:avLst/>
          </a:prstGeom>
          <a:solidFill>
            <a:srgbClr val="5B8DEF">
              <a:alpha val="43000"/>
            </a:srgbClr>
          </a:solidFill>
          <a:ln w="6350">
            <a:solidFill>
              <a:srgbClr val="2A3A5C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58" name="Text 56"/>
          <p:cNvSpPr/>
          <p:nvPr/>
        </p:nvSpPr>
        <p:spPr>
          <a:xfrm>
            <a:off x="3328416" y="5001768"/>
            <a:ext cx="667512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4041648" y="5001768"/>
            <a:ext cx="667512" cy="667512"/>
          </a:xfrm>
          <a:prstGeom prst="rect">
            <a:avLst/>
          </a:prstGeom>
          <a:solidFill>
            <a:srgbClr val="2DD4BF">
              <a:alpha val="33000"/>
            </a:srgbClr>
          </a:solidFill>
          <a:ln w="6350">
            <a:solidFill>
              <a:srgbClr val="2A3A5C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60" name="Text 58"/>
          <p:cNvSpPr/>
          <p:nvPr/>
        </p:nvSpPr>
        <p:spPr>
          <a:xfrm>
            <a:off x="4041648" y="5001768"/>
            <a:ext cx="667512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 rot="16200000">
            <a:off x="548640" y="39776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3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↓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5394960" y="1783080"/>
            <a:ext cx="6245352" cy="2148840"/>
          </a:xfrm>
          <a:prstGeom prst="roundRect">
            <a:avLst>
              <a:gd name="adj" fmla="val 4255"/>
            </a:avLst>
          </a:prstGeom>
          <a:solidFill>
            <a:srgbClr val="16213A"/>
          </a:solidFill>
          <a:ln w="12700">
            <a:solidFill>
              <a:srgbClr val="2A3A5C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63" name="Text 61"/>
          <p:cNvSpPr/>
          <p:nvPr/>
        </p:nvSpPr>
        <p:spPr>
          <a:xfrm>
            <a:off x="5669280" y="19202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Per-class accuracy</a:t>
            </a:r>
            <a:endParaRPr lang="en-US" sz="1300" dirty="0"/>
          </a:p>
        </p:txBody>
      </p:sp>
      <p:sp>
        <p:nvSpPr>
          <p:cNvPr id="64" name="Text 62"/>
          <p:cNvSpPr/>
          <p:nvPr/>
        </p:nvSpPr>
        <p:spPr>
          <a:xfrm>
            <a:off x="5669280" y="2286000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93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</a:t>
            </a:r>
            <a:endParaRPr lang="en-US" sz="1150" dirty="0"/>
          </a:p>
        </p:txBody>
      </p:sp>
      <p:sp>
        <p:nvSpPr>
          <p:cNvPr id="65" name="Shape 63"/>
          <p:cNvSpPr/>
          <p:nvPr/>
        </p:nvSpPr>
        <p:spPr>
          <a:xfrm>
            <a:off x="6263640" y="2313432"/>
            <a:ext cx="4297680" cy="164592"/>
          </a:xfrm>
          <a:prstGeom prst="roundRect">
            <a:avLst>
              <a:gd name="adj" fmla="val 27778"/>
            </a:avLst>
          </a:prstGeom>
          <a:solidFill>
            <a:srgbClr val="2A3A5C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66" name="Shape 64"/>
          <p:cNvSpPr/>
          <p:nvPr/>
        </p:nvSpPr>
        <p:spPr>
          <a:xfrm>
            <a:off x="6263640" y="2313432"/>
            <a:ext cx="3481121" cy="164592"/>
          </a:xfrm>
          <a:prstGeom prst="roundRect">
            <a:avLst>
              <a:gd name="adj" fmla="val 27778"/>
            </a:avLst>
          </a:prstGeom>
          <a:solidFill>
            <a:srgbClr val="2DD4BF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67" name="Text 65"/>
          <p:cNvSpPr/>
          <p:nvPr/>
        </p:nvSpPr>
        <p:spPr>
          <a:xfrm>
            <a:off x="10634472" y="226771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81%</a:t>
            </a:r>
            <a:endParaRPr lang="en-US" sz="1050" dirty="0"/>
          </a:p>
        </p:txBody>
      </p:sp>
      <p:sp>
        <p:nvSpPr>
          <p:cNvPr id="68" name="Text 66"/>
          <p:cNvSpPr/>
          <p:nvPr/>
        </p:nvSpPr>
        <p:spPr>
          <a:xfrm>
            <a:off x="5669280" y="259689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93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</a:t>
            </a:r>
            <a:endParaRPr lang="en-US" sz="1150" dirty="0"/>
          </a:p>
        </p:txBody>
      </p:sp>
      <p:sp>
        <p:nvSpPr>
          <p:cNvPr id="69" name="Shape 67"/>
          <p:cNvSpPr/>
          <p:nvPr/>
        </p:nvSpPr>
        <p:spPr>
          <a:xfrm>
            <a:off x="6263640" y="2624328"/>
            <a:ext cx="4297680" cy="164592"/>
          </a:xfrm>
          <a:prstGeom prst="roundRect">
            <a:avLst>
              <a:gd name="adj" fmla="val 27778"/>
            </a:avLst>
          </a:prstGeom>
          <a:solidFill>
            <a:srgbClr val="2A3A5C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70" name="Shape 68"/>
          <p:cNvSpPr/>
          <p:nvPr/>
        </p:nvSpPr>
        <p:spPr>
          <a:xfrm>
            <a:off x="6263640" y="2624328"/>
            <a:ext cx="1848002" cy="164592"/>
          </a:xfrm>
          <a:prstGeom prst="roundRect">
            <a:avLst>
              <a:gd name="adj" fmla="val 27778"/>
            </a:avLst>
          </a:prstGeom>
          <a:solidFill>
            <a:srgbClr val="EF6F6C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71" name="Text 69"/>
          <p:cNvSpPr/>
          <p:nvPr/>
        </p:nvSpPr>
        <p:spPr>
          <a:xfrm>
            <a:off x="10634472" y="257860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43%</a:t>
            </a:r>
            <a:endParaRPr lang="en-US" sz="1050" dirty="0"/>
          </a:p>
        </p:txBody>
      </p:sp>
      <p:sp>
        <p:nvSpPr>
          <p:cNvPr id="72" name="Text 70"/>
          <p:cNvSpPr/>
          <p:nvPr/>
        </p:nvSpPr>
        <p:spPr>
          <a:xfrm>
            <a:off x="5669280" y="29077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93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</a:t>
            </a:r>
            <a:endParaRPr lang="en-US" sz="1150" dirty="0"/>
          </a:p>
        </p:txBody>
      </p:sp>
      <p:sp>
        <p:nvSpPr>
          <p:cNvPr id="73" name="Shape 71"/>
          <p:cNvSpPr/>
          <p:nvPr/>
        </p:nvSpPr>
        <p:spPr>
          <a:xfrm>
            <a:off x="6263640" y="2935224"/>
            <a:ext cx="4297680" cy="164592"/>
          </a:xfrm>
          <a:prstGeom prst="roundRect">
            <a:avLst>
              <a:gd name="adj" fmla="val 27778"/>
            </a:avLst>
          </a:prstGeom>
          <a:solidFill>
            <a:srgbClr val="2A3A5C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74" name="Shape 72"/>
          <p:cNvSpPr/>
          <p:nvPr/>
        </p:nvSpPr>
        <p:spPr>
          <a:xfrm>
            <a:off x="6263640" y="2935224"/>
            <a:ext cx="2277770" cy="164592"/>
          </a:xfrm>
          <a:prstGeom prst="roundRect">
            <a:avLst>
              <a:gd name="adj" fmla="val 27778"/>
            </a:avLst>
          </a:prstGeom>
          <a:solidFill>
            <a:srgbClr val="5B8DEF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75" name="Text 73"/>
          <p:cNvSpPr/>
          <p:nvPr/>
        </p:nvSpPr>
        <p:spPr>
          <a:xfrm>
            <a:off x="10634472" y="2889504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53%</a:t>
            </a:r>
            <a:endParaRPr lang="en-US" sz="1050" dirty="0"/>
          </a:p>
        </p:txBody>
      </p:sp>
      <p:sp>
        <p:nvSpPr>
          <p:cNvPr id="76" name="Text 74"/>
          <p:cNvSpPr/>
          <p:nvPr/>
        </p:nvSpPr>
        <p:spPr>
          <a:xfrm>
            <a:off x="5669280" y="3218688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93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</a:t>
            </a:r>
            <a:endParaRPr lang="en-US" sz="1150" dirty="0"/>
          </a:p>
        </p:txBody>
      </p:sp>
      <p:sp>
        <p:nvSpPr>
          <p:cNvPr id="77" name="Shape 75"/>
          <p:cNvSpPr/>
          <p:nvPr/>
        </p:nvSpPr>
        <p:spPr>
          <a:xfrm>
            <a:off x="6263640" y="3246120"/>
            <a:ext cx="4297680" cy="164592"/>
          </a:xfrm>
          <a:prstGeom prst="roundRect">
            <a:avLst>
              <a:gd name="adj" fmla="val 27778"/>
            </a:avLst>
          </a:prstGeom>
          <a:solidFill>
            <a:srgbClr val="2A3A5C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78" name="Shape 76"/>
          <p:cNvSpPr/>
          <p:nvPr/>
        </p:nvSpPr>
        <p:spPr>
          <a:xfrm>
            <a:off x="6263640" y="3246120"/>
            <a:ext cx="3137306" cy="164592"/>
          </a:xfrm>
          <a:prstGeom prst="roundRect">
            <a:avLst>
              <a:gd name="adj" fmla="val 27778"/>
            </a:avLst>
          </a:prstGeom>
          <a:solidFill>
            <a:srgbClr val="2DD4BF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79" name="Text 77"/>
          <p:cNvSpPr/>
          <p:nvPr/>
        </p:nvSpPr>
        <p:spPr>
          <a:xfrm>
            <a:off x="10634472" y="32004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73%</a:t>
            </a:r>
            <a:endParaRPr lang="en-US" sz="1050" dirty="0"/>
          </a:p>
        </p:txBody>
      </p:sp>
      <p:sp>
        <p:nvSpPr>
          <p:cNvPr id="80" name="Text 78"/>
          <p:cNvSpPr/>
          <p:nvPr/>
        </p:nvSpPr>
        <p:spPr>
          <a:xfrm>
            <a:off x="5669280" y="352958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93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L5</a:t>
            </a:r>
            <a:endParaRPr lang="en-US" sz="1150" dirty="0"/>
          </a:p>
        </p:txBody>
      </p:sp>
      <p:sp>
        <p:nvSpPr>
          <p:cNvPr id="81" name="Shape 79"/>
          <p:cNvSpPr/>
          <p:nvPr/>
        </p:nvSpPr>
        <p:spPr>
          <a:xfrm>
            <a:off x="6263640" y="3557016"/>
            <a:ext cx="4297680" cy="164592"/>
          </a:xfrm>
          <a:prstGeom prst="roundRect">
            <a:avLst>
              <a:gd name="adj" fmla="val 27778"/>
            </a:avLst>
          </a:prstGeom>
          <a:solidFill>
            <a:srgbClr val="2A3A5C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82" name="Shape 80"/>
          <p:cNvSpPr/>
          <p:nvPr/>
        </p:nvSpPr>
        <p:spPr>
          <a:xfrm>
            <a:off x="6263640" y="3557016"/>
            <a:ext cx="1504188" cy="164592"/>
          </a:xfrm>
          <a:prstGeom prst="roundRect">
            <a:avLst>
              <a:gd name="adj" fmla="val 27778"/>
            </a:avLst>
          </a:prstGeom>
          <a:solidFill>
            <a:srgbClr val="EF6F6C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83" name="Text 81"/>
          <p:cNvSpPr/>
          <p:nvPr/>
        </p:nvSpPr>
        <p:spPr>
          <a:xfrm>
            <a:off x="10634472" y="3511296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35%</a:t>
            </a:r>
            <a:endParaRPr lang="en-US" sz="1050" dirty="0"/>
          </a:p>
        </p:txBody>
      </p:sp>
      <p:sp>
        <p:nvSpPr>
          <p:cNvPr id="84" name="Shape 82"/>
          <p:cNvSpPr/>
          <p:nvPr/>
        </p:nvSpPr>
        <p:spPr>
          <a:xfrm>
            <a:off x="5394960" y="4069080"/>
            <a:ext cx="6245352" cy="2057400"/>
          </a:xfrm>
          <a:prstGeom prst="roundRect">
            <a:avLst>
              <a:gd name="adj" fmla="val 4444"/>
            </a:avLst>
          </a:prstGeom>
          <a:solidFill>
            <a:srgbClr val="1E2C4A"/>
          </a:solidFill>
          <a:ln w="12700">
            <a:solidFill>
              <a:srgbClr val="2A3A5C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85" name="Text 83"/>
          <p:cNvSpPr/>
          <p:nvPr/>
        </p:nvSpPr>
        <p:spPr>
          <a:xfrm>
            <a:off x="5669280" y="42062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it</a:t>
            </a:r>
            <a:endParaRPr lang="en-US" sz="1300" dirty="0"/>
          </a:p>
        </p:txBody>
      </p:sp>
      <p:sp>
        <p:nvSpPr>
          <p:cNvPr id="86" name="Text 84"/>
          <p:cNvSpPr/>
          <p:nvPr/>
        </p:nvSpPr>
        <p:spPr>
          <a:xfrm>
            <a:off x="5669280" y="4498848"/>
            <a:ext cx="57607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Strong at the extremes (L1 81%, L4 73%) — clearest evidence signatures.
</a:t>
            </a:r>
            <a:r>
              <a:rPr lang="en-US" sz="1150" dirty="0">
                <a:solidFill>
                  <a:srgbClr val="93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L5 is hardest (35%) — fewest examples, easily confused with L4.
</a:t>
            </a:r>
            <a:r>
              <a:rPr lang="en-US" sz="115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Crucially, errors are almost always ±1 — ordinal structure is being learned, not random confusion.
</a:t>
            </a:r>
            <a:r>
              <a:rPr lang="en-US" sz="115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Retrieval at eval: Hit 0.998 · Prec 0.911 · MRR 0.983 — errors are a scoring, not retrieval, limit.</a:t>
            </a:r>
            <a:endParaRPr lang="en-US" sz="1150" dirty="0"/>
          </a:p>
        </p:txBody>
      </p:sp>
      <p:sp>
        <p:nvSpPr>
          <p:cNvPr id="87" name="Text 85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3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Skill-Scoring NLP Model</a:t>
            </a:r>
            <a:r>
              <a:rPr lang="en-US" sz="900" dirty="0">
                <a:solidFill>
                  <a:srgbClr val="5C6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  Synthetic Generation → RAG → Ordinal Scorer</a:t>
            </a:r>
            <a:endParaRPr lang="en-US" sz="900" dirty="0"/>
          </a:p>
        </p:txBody>
      </p:sp>
      <p:sp>
        <p:nvSpPr>
          <p:cNvPr id="88" name="Text 86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3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AF0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built — and what's next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91672" cy="1051560"/>
          </a:xfrm>
          <a:prstGeom prst="roundRect">
            <a:avLst>
              <a:gd name="adj" fmla="val 8696"/>
            </a:avLst>
          </a:prstGeom>
          <a:solidFill>
            <a:srgbClr val="1E2C4A"/>
          </a:solidFill>
          <a:ln w="12700">
            <a:solidFill>
              <a:srgbClr val="2A3A5C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5" name="Text 3"/>
          <p:cNvSpPr/>
          <p:nvPr/>
        </p:nvSpPr>
        <p:spPr>
          <a:xfrm>
            <a:off x="822960" y="196596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end-to-end, leakage-audited synthetic dataset + a RAG-grounded ordinal scorer that predicts skill proficiency </a:t>
            </a:r>
            <a:r>
              <a:rPr lang="en-US" sz="1450" b="1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±1 level ~96% of the time (QWK 0.80).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3063240"/>
            <a:ext cx="5394960" cy="3017520"/>
          </a:xfrm>
          <a:prstGeom prst="roundRect">
            <a:avLst>
              <a:gd name="adj" fmla="val 3030"/>
            </a:avLst>
          </a:prstGeom>
          <a:solidFill>
            <a:srgbClr val="16213A"/>
          </a:solidFill>
          <a:ln w="12700">
            <a:solidFill>
              <a:srgbClr val="2A3A5C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7" name="Text 5"/>
          <p:cNvSpPr/>
          <p:nvPr/>
        </p:nvSpPr>
        <p:spPr>
          <a:xfrm>
            <a:off x="822960" y="32004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experiments proved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3611880"/>
            <a:ext cx="49377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The dataset is honest — BoW and length baselines can't shortcut it.
• Ordinal (CORAL) + light top-layer fine-tuning is the winning recipe.
• Retrieval is essentially solved; the headroom is in scoring the rare top level.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45352" y="3063240"/>
            <a:ext cx="5394960" cy="3017520"/>
          </a:xfrm>
          <a:prstGeom prst="roundRect">
            <a:avLst>
              <a:gd name="adj" fmla="val 3030"/>
            </a:avLst>
          </a:prstGeom>
          <a:solidFill>
            <a:srgbClr val="16213A"/>
          </a:solidFill>
          <a:ln w="12700">
            <a:solidFill>
              <a:srgbClr val="2A3A5C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0" name="Text 8"/>
          <p:cNvSpPr/>
          <p:nvPr/>
        </p:nvSpPr>
        <p:spPr>
          <a:xfrm>
            <a:off x="6519672" y="32004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B8D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directions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19672" y="3611880"/>
            <a:ext cx="49377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More L5 / L2 examples or class-balanced loss to lift the weak classes.
• Larger backbone / more unfrozen layers, now that overfitting is controlled.
• Calibrate cumulative thresholds; add soft regression scoring.
• Validate on real human-labeled documents to measure the synthetic-to-real gap.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3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Skill-Scoring NLP Model</a:t>
            </a:r>
            <a:r>
              <a:rPr lang="en-US" sz="900" dirty="0">
                <a:solidFill>
                  <a:srgbClr val="5C6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  Synthetic Generation → RAG → Ordinal Scorer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3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2265</Words>
  <Application>Microsoft Office PowerPoint</Application>
  <PresentationFormat>מסך רחב</PresentationFormat>
  <Paragraphs>370</Paragraphs>
  <Slides>17</Slides>
  <Notes>17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4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17</vt:i4>
      </vt:variant>
    </vt:vector>
  </HeadingPairs>
  <TitlesOfParts>
    <vt:vector size="22" baseType="lpstr">
      <vt:lpstr>Arial</vt:lpstr>
      <vt:lpstr>Calibri</vt:lpstr>
      <vt:lpstr>Cambria</vt:lpstr>
      <vt:lpstr>Courier New</vt:lpstr>
      <vt:lpstr>Office Theme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Skill-Scoring NLP Model</dc:title>
  <dc:subject>PptxGenJS Presentation</dc:subject>
  <dc:creator>Skill-Scoring Project</dc:creator>
  <cp:lastModifiedBy>אופיר אוחנה</cp:lastModifiedBy>
  <cp:revision>3</cp:revision>
  <dcterms:created xsi:type="dcterms:W3CDTF">2026-06-10T14:15:17Z</dcterms:created>
  <dcterms:modified xsi:type="dcterms:W3CDTF">2026-06-10T14:50:21Z</dcterms:modified>
</cp:coreProperties>
</file>